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8" r:id="rId4"/>
  </p:sldMasterIdLst>
  <p:notesMasterIdLst>
    <p:notesMasterId r:id="rId14"/>
  </p:notesMasterIdLst>
  <p:handoutMasterIdLst>
    <p:handoutMasterId r:id="rId15"/>
  </p:handoutMasterIdLst>
  <p:sldIdLst>
    <p:sldId id="507" r:id="rId5"/>
    <p:sldId id="1027" r:id="rId6"/>
    <p:sldId id="1012" r:id="rId7"/>
    <p:sldId id="1013" r:id="rId8"/>
    <p:sldId id="1038" r:id="rId9"/>
    <p:sldId id="1014" r:id="rId10"/>
    <p:sldId id="1015" r:id="rId11"/>
    <p:sldId id="1034" r:id="rId12"/>
    <p:sldId id="1037" r:id="rId13"/>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 Shekhar . R" initials="PS.R" lastIdx="1" clrIdx="0">
    <p:extLst>
      <p:ext uri="{19B8F6BF-5375-455C-9EA6-DF929625EA0E}">
        <p15:presenceInfo xmlns:p15="http://schemas.microsoft.com/office/powerpoint/2012/main" userId="S-1-5-21-1415727340-1540263038-2234542919-13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342545-6A36-412D-99CD-FEBB761259FA}" v="89" dt="2026-09-25T08:40:01.308"/>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47" y="45"/>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hileswara achari" userId="6053b2335c30adf4" providerId="LiveId" clId="{3F3267CF-C84C-4501-97C8-1755BBA8EB70}"/>
    <pc:docChg chg="undo custSel delSld modSld">
      <pc:chgData name="akhileswara achari" userId="6053b2335c30adf4" providerId="LiveId" clId="{3F3267CF-C84C-4501-97C8-1755BBA8EB70}" dt="2026-09-25T08:47:18.320" v="766" actId="20577"/>
      <pc:docMkLst>
        <pc:docMk/>
      </pc:docMkLst>
      <pc:sldChg chg="modSp mod">
        <pc:chgData name="akhileswara achari" userId="6053b2335c30adf4" providerId="LiveId" clId="{3F3267CF-C84C-4501-97C8-1755BBA8EB70}" dt="2026-09-25T08:43:13.347" v="745" actId="20577"/>
        <pc:sldMkLst>
          <pc:docMk/>
          <pc:sldMk cId="0" sldId="507"/>
        </pc:sldMkLst>
        <pc:spChg chg="mod">
          <ac:chgData name="akhileswara achari" userId="6053b2335c30adf4" providerId="LiveId" clId="{3F3267CF-C84C-4501-97C8-1755BBA8EB70}" dt="2026-09-25T08:40:54.197" v="699" actId="2711"/>
          <ac:spMkLst>
            <pc:docMk/>
            <pc:sldMk cId="0" sldId="507"/>
            <ac:spMk id="3" creationId="{6D32EB1C-EBBB-5B7C-B862-62400C76D790}"/>
          </ac:spMkLst>
        </pc:spChg>
        <pc:spChg chg="mod">
          <ac:chgData name="akhileswara achari" userId="6053b2335c30adf4" providerId="LiveId" clId="{3F3267CF-C84C-4501-97C8-1755BBA8EB70}" dt="2026-09-25T08:43:13.347" v="745" actId="20577"/>
          <ac:spMkLst>
            <pc:docMk/>
            <pc:sldMk cId="0" sldId="507"/>
            <ac:spMk id="6" creationId="{90112947-B9C2-2E92-2ED4-7AE86C45CC4F}"/>
          </ac:spMkLst>
        </pc:spChg>
      </pc:sldChg>
      <pc:sldChg chg="modSp mod">
        <pc:chgData name="akhileswara achari" userId="6053b2335c30adf4" providerId="LiveId" clId="{3F3267CF-C84C-4501-97C8-1755BBA8EB70}" dt="2026-09-25T08:43:35.319" v="748" actId="2711"/>
        <pc:sldMkLst>
          <pc:docMk/>
          <pc:sldMk cId="3089745817" sldId="1012"/>
        </pc:sldMkLst>
        <pc:spChg chg="mod">
          <ac:chgData name="akhileswara achari" userId="6053b2335c30adf4" providerId="LiveId" clId="{3F3267CF-C84C-4501-97C8-1755BBA8EB70}" dt="2026-09-25T08:43:31.180" v="747" actId="2711"/>
          <ac:spMkLst>
            <pc:docMk/>
            <pc:sldMk cId="3089745817" sldId="1012"/>
            <ac:spMk id="4" creationId="{3C4CB520-A912-DADE-9853-2F838EACEC0A}"/>
          </ac:spMkLst>
        </pc:spChg>
        <pc:spChg chg="mod">
          <ac:chgData name="akhileswara achari" userId="6053b2335c30adf4" providerId="LiveId" clId="{3F3267CF-C84C-4501-97C8-1755BBA8EB70}" dt="2026-09-25T08:43:35.319" v="748" actId="2711"/>
          <ac:spMkLst>
            <pc:docMk/>
            <pc:sldMk cId="3089745817" sldId="1012"/>
            <ac:spMk id="5" creationId="{0B60A4D8-B9AD-8A2D-342E-E0AE9F24A2B1}"/>
          </ac:spMkLst>
        </pc:spChg>
      </pc:sldChg>
      <pc:sldChg chg="modSp mod">
        <pc:chgData name="akhileswara achari" userId="6053b2335c30adf4" providerId="LiveId" clId="{3F3267CF-C84C-4501-97C8-1755BBA8EB70}" dt="2026-09-25T08:43:47.060" v="750" actId="2711"/>
        <pc:sldMkLst>
          <pc:docMk/>
          <pc:sldMk cId="95257650" sldId="1013"/>
        </pc:sldMkLst>
        <pc:spChg chg="mod">
          <ac:chgData name="akhileswara achari" userId="6053b2335c30adf4" providerId="LiveId" clId="{3F3267CF-C84C-4501-97C8-1755BBA8EB70}" dt="2026-09-25T08:43:47.060" v="750" actId="2711"/>
          <ac:spMkLst>
            <pc:docMk/>
            <pc:sldMk cId="95257650" sldId="1013"/>
            <ac:spMk id="3" creationId="{A2E99C9E-6A0E-333F-5A49-29CB3CF69502}"/>
          </ac:spMkLst>
        </pc:spChg>
        <pc:graphicFrameChg chg="mod modGraphic">
          <ac:chgData name="akhileswara achari" userId="6053b2335c30adf4" providerId="LiveId" clId="{3F3267CF-C84C-4501-97C8-1755BBA8EB70}" dt="2026-09-25T08:43:42.103" v="749" actId="2711"/>
          <ac:graphicFrameMkLst>
            <pc:docMk/>
            <pc:sldMk cId="95257650" sldId="1013"/>
            <ac:graphicFrameMk id="2" creationId="{E80844F9-8385-782E-0B9C-345478913A32}"/>
          </ac:graphicFrameMkLst>
        </pc:graphicFrameChg>
      </pc:sldChg>
      <pc:sldChg chg="modSp mod">
        <pc:chgData name="akhileswara achari" userId="6053b2335c30adf4" providerId="LiveId" clId="{3F3267CF-C84C-4501-97C8-1755BBA8EB70}" dt="2026-09-25T08:44:04.551" v="753" actId="2711"/>
        <pc:sldMkLst>
          <pc:docMk/>
          <pc:sldMk cId="2694801863" sldId="1014"/>
        </pc:sldMkLst>
        <pc:spChg chg="mod">
          <ac:chgData name="akhileswara achari" userId="6053b2335c30adf4" providerId="LiveId" clId="{3F3267CF-C84C-4501-97C8-1755BBA8EB70}" dt="2026-09-25T08:44:04.551" v="753" actId="2711"/>
          <ac:spMkLst>
            <pc:docMk/>
            <pc:sldMk cId="2694801863" sldId="1014"/>
            <ac:spMk id="2" creationId="{424006D7-2A1D-A4B2-63D6-92A249697848}"/>
          </ac:spMkLst>
        </pc:spChg>
        <pc:spChg chg="mod">
          <ac:chgData name="akhileswara achari" userId="6053b2335c30adf4" providerId="LiveId" clId="{3F3267CF-C84C-4501-97C8-1755BBA8EB70}" dt="2026-09-25T08:44:00.049" v="752" actId="2711"/>
          <ac:spMkLst>
            <pc:docMk/>
            <pc:sldMk cId="2694801863" sldId="1014"/>
            <ac:spMk id="3" creationId="{39A6E23D-A5D8-BE38-914C-4697198F055E}"/>
          </ac:spMkLst>
        </pc:spChg>
      </pc:sldChg>
      <pc:sldChg chg="modSp mod">
        <pc:chgData name="akhileswara achari" userId="6053b2335c30adf4" providerId="LiveId" clId="{3F3267CF-C84C-4501-97C8-1755BBA8EB70}" dt="2026-09-25T08:44:23.185" v="756" actId="20577"/>
        <pc:sldMkLst>
          <pc:docMk/>
          <pc:sldMk cId="695185364" sldId="1015"/>
        </pc:sldMkLst>
        <pc:spChg chg="mod">
          <ac:chgData name="akhileswara achari" userId="6053b2335c30adf4" providerId="LiveId" clId="{3F3267CF-C84C-4501-97C8-1755BBA8EB70}" dt="2026-09-25T08:44:23.185" v="756" actId="20577"/>
          <ac:spMkLst>
            <pc:docMk/>
            <pc:sldMk cId="695185364" sldId="1015"/>
            <ac:spMk id="2" creationId="{D0EF3ED1-1B2C-DD44-A421-B9D1C2BCEA8F}"/>
          </ac:spMkLst>
        </pc:spChg>
        <pc:spChg chg="mod">
          <ac:chgData name="akhileswara achari" userId="6053b2335c30adf4" providerId="LiveId" clId="{3F3267CF-C84C-4501-97C8-1755BBA8EB70}" dt="2026-09-25T08:44:11.537" v="754" actId="2711"/>
          <ac:spMkLst>
            <pc:docMk/>
            <pc:sldMk cId="695185364" sldId="1015"/>
            <ac:spMk id="3" creationId="{BBD3710E-1FD6-A145-E602-76470D00842A}"/>
          </ac:spMkLst>
        </pc:spChg>
      </pc:sldChg>
      <pc:sldChg chg="modSp mod">
        <pc:chgData name="akhileswara achari" userId="6053b2335c30adf4" providerId="LiveId" clId="{3F3267CF-C84C-4501-97C8-1755BBA8EB70}" dt="2026-09-25T08:45:51.464" v="765" actId="20577"/>
        <pc:sldMkLst>
          <pc:docMk/>
          <pc:sldMk cId="2893977295" sldId="1027"/>
        </pc:sldMkLst>
        <pc:spChg chg="mod">
          <ac:chgData name="akhileswara achari" userId="6053b2335c30adf4" providerId="LiveId" clId="{3F3267CF-C84C-4501-97C8-1755BBA8EB70}" dt="2026-09-25T08:45:51.464" v="765" actId="20577"/>
          <ac:spMkLst>
            <pc:docMk/>
            <pc:sldMk cId="2893977295" sldId="1027"/>
            <ac:spMk id="2" creationId="{62F4E8D8-8E72-3C38-A5E9-E80E419F817B}"/>
          </ac:spMkLst>
        </pc:spChg>
      </pc:sldChg>
      <pc:sldChg chg="modSp mod">
        <pc:chgData name="akhileswara achari" userId="6053b2335c30adf4" providerId="LiveId" clId="{3F3267CF-C84C-4501-97C8-1755BBA8EB70}" dt="2026-09-25T08:47:18.320" v="766" actId="20577"/>
        <pc:sldMkLst>
          <pc:docMk/>
          <pc:sldMk cId="3239980978" sldId="1034"/>
        </pc:sldMkLst>
        <pc:spChg chg="mod">
          <ac:chgData name="akhileswara achari" userId="6053b2335c30adf4" providerId="LiveId" clId="{3F3267CF-C84C-4501-97C8-1755BBA8EB70}" dt="2026-09-25T08:47:18.320" v="766" actId="20577"/>
          <ac:spMkLst>
            <pc:docMk/>
            <pc:sldMk cId="3239980978" sldId="1034"/>
            <ac:spMk id="2" creationId="{80C5B857-177B-4550-2344-1CED2EAFC5B9}"/>
          </ac:spMkLst>
        </pc:spChg>
        <pc:spChg chg="mod">
          <ac:chgData name="akhileswara achari" userId="6053b2335c30adf4" providerId="LiveId" clId="{3F3267CF-C84C-4501-97C8-1755BBA8EB70}" dt="2026-09-25T08:44:39.250" v="757" actId="2711"/>
          <ac:spMkLst>
            <pc:docMk/>
            <pc:sldMk cId="3239980978" sldId="1034"/>
            <ac:spMk id="3" creationId="{E0A18EB9-D0B2-3DF1-D33D-B8F4D4C25F3A}"/>
          </ac:spMkLst>
        </pc:spChg>
      </pc:sldChg>
      <pc:sldChg chg="del">
        <pc:chgData name="akhileswara achari" userId="6053b2335c30adf4" providerId="LiveId" clId="{3F3267CF-C84C-4501-97C8-1755BBA8EB70}" dt="2026-09-25T08:31:30.438" v="587" actId="47"/>
        <pc:sldMkLst>
          <pc:docMk/>
          <pc:sldMk cId="1532967047" sldId="1036"/>
        </pc:sldMkLst>
      </pc:sldChg>
      <pc:sldChg chg="modSp mod">
        <pc:chgData name="akhileswara achari" userId="6053b2335c30adf4" providerId="LiveId" clId="{3F3267CF-C84C-4501-97C8-1755BBA8EB70}" dt="2026-09-25T08:44:53.855" v="760" actId="2711"/>
        <pc:sldMkLst>
          <pc:docMk/>
          <pc:sldMk cId="1613146428" sldId="1037"/>
        </pc:sldMkLst>
        <pc:spChg chg="mod">
          <ac:chgData name="akhileswara achari" userId="6053b2335c30adf4" providerId="LiveId" clId="{3F3267CF-C84C-4501-97C8-1755BBA8EB70}" dt="2026-09-25T08:44:53.855" v="760" actId="2711"/>
          <ac:spMkLst>
            <pc:docMk/>
            <pc:sldMk cId="1613146428" sldId="1037"/>
            <ac:spMk id="2" creationId="{F5E6F616-BA4B-81FE-2F89-F371C90508B7}"/>
          </ac:spMkLst>
        </pc:spChg>
        <pc:spChg chg="mod">
          <ac:chgData name="akhileswara achari" userId="6053b2335c30adf4" providerId="LiveId" clId="{3F3267CF-C84C-4501-97C8-1755BBA8EB70}" dt="2026-09-25T08:44:49.772" v="759" actId="2711"/>
          <ac:spMkLst>
            <pc:docMk/>
            <pc:sldMk cId="1613146428" sldId="1037"/>
            <ac:spMk id="3" creationId="{DF291E41-CF58-74B2-9E5F-75768CDC9158}"/>
          </ac:spMkLst>
        </pc:spChg>
      </pc:sldChg>
      <pc:sldChg chg="modSp mod">
        <pc:chgData name="akhileswara achari" userId="6053b2335c30adf4" providerId="LiveId" clId="{3F3267CF-C84C-4501-97C8-1755BBA8EB70}" dt="2026-09-25T08:43:52.920" v="751" actId="2711"/>
        <pc:sldMkLst>
          <pc:docMk/>
          <pc:sldMk cId="4262648706" sldId="1038"/>
        </pc:sldMkLst>
        <pc:graphicFrameChg chg="mod modGraphic">
          <ac:chgData name="akhileswara achari" userId="6053b2335c30adf4" providerId="LiveId" clId="{3F3267CF-C84C-4501-97C8-1755BBA8EB70}" dt="2026-09-25T08:43:52.920" v="751" actId="2711"/>
          <ac:graphicFrameMkLst>
            <pc:docMk/>
            <pc:sldMk cId="4262648706" sldId="1038"/>
            <ac:graphicFrameMk id="3" creationId="{A14F7DAF-0F95-6643-8223-91471797B9B8}"/>
          </ac:graphicFrameMkLst>
        </pc:graphicFrameChg>
      </pc:sldChg>
    </pc:docChg>
  </pc:docChgLst>
  <pc:docChgLst>
    <pc:chgData name="Karunakar D" userId="cc4bb8050be4ff1e" providerId="LiveId" clId="{7A100101-328D-40A7-B9F6-D860D0EA073D}"/>
    <pc:docChg chg="modSld">
      <pc:chgData name="Karunakar D" userId="cc4bb8050be4ff1e" providerId="LiveId" clId="{7A100101-328D-40A7-B9F6-D860D0EA073D}" dt="2026-09-25T10:28:26.292" v="2" actId="113"/>
      <pc:docMkLst>
        <pc:docMk/>
      </pc:docMkLst>
      <pc:sldChg chg="modSp mod">
        <pc:chgData name="Karunakar D" userId="cc4bb8050be4ff1e" providerId="LiveId" clId="{7A100101-328D-40A7-B9F6-D860D0EA073D}" dt="2026-09-25T10:28:26.292" v="2" actId="113"/>
        <pc:sldMkLst>
          <pc:docMk/>
          <pc:sldMk cId="0" sldId="507"/>
        </pc:sldMkLst>
        <pc:spChg chg="mod">
          <ac:chgData name="Karunakar D" userId="cc4bb8050be4ff1e" providerId="LiveId" clId="{7A100101-328D-40A7-B9F6-D860D0EA073D}" dt="2026-09-25T10:28:26.292" v="2" actId="113"/>
          <ac:spMkLst>
            <pc:docMk/>
            <pc:sldMk cId="0" sldId="507"/>
            <ac:spMk id="6" creationId="{90112947-B9C2-2E92-2ED4-7AE86C45CC4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53F2378-E9BC-4DF3-B317-060928E4E621}" type="datetimeFigureOut">
              <a:rPr lang="en-US" smtClean="0"/>
              <a:pPr/>
              <a:t>9/25/2026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1D99B9-BA06-4A87-B300-D8D5C0E3ED1F}" type="slidenum">
              <a:rPr lang="en-US" smtClean="0"/>
              <a:pPr/>
              <a:t>‹#›</a:t>
            </a:fld>
            <a:endParaRPr lang="en-US"/>
          </a:p>
        </p:txBody>
      </p:sp>
    </p:spTree>
    <p:extLst>
      <p:ext uri="{BB962C8B-B14F-4D97-AF65-F5344CB8AC3E}">
        <p14:creationId xmlns:p14="http://schemas.microsoft.com/office/powerpoint/2010/main" val="10938940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BA7B44CD-007F-4479-9F76-504AB024A03E}" type="datetimeFigureOut">
              <a:rPr lang="en-US"/>
              <a:pPr>
                <a:defRPr/>
              </a:pPr>
              <a:t>9/25/2026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FD4853D3-BCEF-4909-916C-A78958746ECE}" type="slidenum">
              <a:rPr lang="en-US"/>
              <a:pPr>
                <a:defRPr/>
              </a:pPr>
              <a:t>‹#›</a:t>
            </a:fld>
            <a:endParaRPr lang="en-US"/>
          </a:p>
        </p:txBody>
      </p:sp>
    </p:spTree>
    <p:extLst>
      <p:ext uri="{BB962C8B-B14F-4D97-AF65-F5344CB8AC3E}">
        <p14:creationId xmlns:p14="http://schemas.microsoft.com/office/powerpoint/2010/main" val="33476574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pPr>
              <a:defRPr/>
            </a:pPr>
            <a:fld id="{FD4853D3-BCEF-4909-916C-A78958746ECE}" type="slidenum">
              <a:rPr lang="en-US" smtClean="0"/>
              <a:pPr>
                <a:defRPr/>
              </a:pPr>
              <a:t>1</a:t>
            </a:fld>
            <a:endParaRPr lang="en-US"/>
          </a:p>
        </p:txBody>
      </p:sp>
    </p:spTree>
    <p:extLst>
      <p:ext uri="{BB962C8B-B14F-4D97-AF65-F5344CB8AC3E}">
        <p14:creationId xmlns:p14="http://schemas.microsoft.com/office/powerpoint/2010/main" val="257739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609600" y="228600"/>
            <a:ext cx="10972800" cy="563562"/>
          </a:xfrm>
        </p:spPr>
        <p:txBody>
          <a:bodyPr>
            <a:normAutofit/>
          </a:bodyPr>
          <a:lstStyle>
            <a:lvl1pPr algn="l">
              <a:defRPr sz="2800"/>
            </a:lvl1p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p:cNvSpPr txBox="1"/>
          <p:nvPr/>
        </p:nvSpPr>
        <p:spPr>
          <a:xfrm>
            <a:off x="10927472" y="6553201"/>
            <a:ext cx="1219200" cy="276999"/>
          </a:xfrm>
          <a:prstGeom prst="rect">
            <a:avLst/>
          </a:prstGeom>
          <a:noFill/>
        </p:spPr>
        <p:txBody>
          <a:bodyPr wrap="square" rtlCol="0">
            <a:spAutoFit/>
          </a:bodyPr>
          <a:lstStyle/>
          <a:p>
            <a:pPr algn="r"/>
            <a:fld id="{E80FD4C6-48AB-4634-9A0B-834BD7BA5A0C}" type="slidenum">
              <a:rPr lang="en-IN" sz="1200" smtClean="0">
                <a:latin typeface="+mn-lt"/>
              </a:rPr>
              <a:pPr algn="r"/>
              <a:t>‹#›</a:t>
            </a:fld>
            <a:endParaRPr lang="en-IN" sz="1200">
              <a:latin typeface="+mn-lt"/>
            </a:endParaRPr>
          </a:p>
        </p:txBody>
      </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4" r:id="rId3"/>
  </p:sldLayoutIdLst>
  <mc:AlternateContent xmlns:mc="http://schemas.openxmlformats.org/markup-compatibility/2006" xmlns:p14="http://schemas.microsoft.com/office/powerpoint/2010/main">
    <mc:Choice Requires="p14">
      <p:transition p14:dur="10"/>
    </mc:Choice>
    <mc:Fallback xmlns="">
      <p:transition/>
    </mc:Fallback>
  </mc:AlternateConten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90112947-B9C2-2E92-2ED4-7AE86C45CC4F}"/>
              </a:ext>
            </a:extLst>
          </p:cNvPr>
          <p:cNvSpPr>
            <a:spLocks noGrp="1"/>
          </p:cNvSpPr>
          <p:nvPr>
            <p:ph idx="1"/>
          </p:nvPr>
        </p:nvSpPr>
        <p:spPr/>
        <p:txBody>
          <a:bodyPr vert="horz" lIns="91440" tIns="45720" rIns="91440" bIns="45720" rtlCol="0" anchor="t">
            <a:normAutofit/>
          </a:bodyPr>
          <a:lstStyle/>
          <a:p>
            <a:pPr marL="0" indent="0">
              <a:spcBef>
                <a:spcPts val="30"/>
              </a:spcBef>
              <a:spcAft>
                <a:spcPts val="30"/>
              </a:spcAft>
              <a:buNone/>
            </a:pPr>
            <a:r>
              <a:rPr lang="en-US" sz="3000" dirty="0">
                <a:latin typeface="Times New Roman" panose="02020603050405020304" pitchFamily="18" charset="0"/>
                <a:cs typeface="Times New Roman" panose="02020603050405020304" pitchFamily="18" charset="0"/>
              </a:rPr>
              <a:t>Team Members:</a:t>
            </a:r>
          </a:p>
          <a:p>
            <a:pPr marL="0" indent="0">
              <a:spcBef>
                <a:spcPts val="30"/>
              </a:spcBef>
              <a:spcAft>
                <a:spcPts val="30"/>
              </a:spcAft>
              <a:buNone/>
            </a:pPr>
            <a:r>
              <a:rPr lang="en-US" sz="2600" dirty="0">
                <a:latin typeface="Times New Roman" panose="02020603050405020304" pitchFamily="18" charset="0"/>
                <a:cs typeface="Times New Roman" panose="02020603050405020304" pitchFamily="18" charset="0"/>
              </a:rPr>
              <a:t>      1. Sai Ranjith - 2411021060729</a:t>
            </a:r>
          </a:p>
          <a:p>
            <a:pPr marL="0" indent="0">
              <a:spcBef>
                <a:spcPts val="30"/>
              </a:spcBef>
              <a:spcAft>
                <a:spcPts val="30"/>
              </a:spcAft>
              <a:buNone/>
            </a:pPr>
            <a:r>
              <a:rPr lang="en-US" sz="2600" dirty="0">
                <a:latin typeface="Times New Roman" panose="02020603050405020304" pitchFamily="18" charset="0"/>
                <a:cs typeface="Times New Roman" panose="02020603050405020304" pitchFamily="18" charset="0"/>
              </a:rPr>
              <a:t>      2.A.Akhileswara achari - 2411021060747</a:t>
            </a:r>
          </a:p>
          <a:p>
            <a:pPr marL="0" indent="0">
              <a:spcBef>
                <a:spcPts val="30"/>
              </a:spcBef>
              <a:spcAft>
                <a:spcPts val="30"/>
              </a:spcAft>
              <a:buNone/>
            </a:pPr>
            <a:r>
              <a:rPr lang="en-US" sz="2600" dirty="0">
                <a:latin typeface="Times New Roman" panose="02020603050405020304" pitchFamily="18" charset="0"/>
                <a:cs typeface="Times New Roman" panose="02020603050405020304" pitchFamily="18" charset="0"/>
              </a:rPr>
              <a:t>      3. </a:t>
            </a:r>
            <a:r>
              <a:rPr lang="en-US" sz="2600" dirty="0" err="1">
                <a:latin typeface="Times New Roman" panose="02020603050405020304" pitchFamily="18" charset="0"/>
                <a:cs typeface="Times New Roman" panose="02020603050405020304" pitchFamily="18" charset="0"/>
              </a:rPr>
              <a:t>S.Haneesh</a:t>
            </a:r>
            <a:r>
              <a:rPr lang="en-US" sz="2600" dirty="0">
                <a:latin typeface="Times New Roman" panose="02020603050405020304" pitchFamily="18" charset="0"/>
                <a:cs typeface="Times New Roman" panose="02020603050405020304" pitchFamily="18" charset="0"/>
              </a:rPr>
              <a:t> Ranganath - 2411021060722</a:t>
            </a:r>
          </a:p>
          <a:p>
            <a:pPr marL="0" indent="0">
              <a:spcBef>
                <a:spcPts val="30"/>
              </a:spcBef>
              <a:spcAft>
                <a:spcPts val="30"/>
              </a:spcAft>
              <a:buNone/>
            </a:pPr>
            <a:r>
              <a:rPr lang="en-US" sz="2600" dirty="0">
                <a:latin typeface="Times New Roman" panose="02020603050405020304" pitchFamily="18" charset="0"/>
                <a:cs typeface="Times New Roman" panose="02020603050405020304" pitchFamily="18" charset="0"/>
              </a:rPr>
              <a:t>      4. </a:t>
            </a:r>
            <a:r>
              <a:rPr lang="en-US" sz="2600" dirty="0" err="1">
                <a:latin typeface="Times New Roman" panose="02020603050405020304" pitchFamily="18" charset="0"/>
                <a:cs typeface="Times New Roman" panose="02020603050405020304" pitchFamily="18" charset="0"/>
              </a:rPr>
              <a:t>D.Karunakar</a:t>
            </a:r>
            <a:r>
              <a:rPr lang="en-US" sz="2600" dirty="0">
                <a:latin typeface="Times New Roman" panose="02020603050405020304" pitchFamily="18" charset="0"/>
                <a:cs typeface="Times New Roman" panose="02020603050405020304" pitchFamily="18" charset="0"/>
              </a:rPr>
              <a:t> – 2411021060757</a:t>
            </a:r>
          </a:p>
          <a:p>
            <a:pPr marL="0" indent="0">
              <a:spcBef>
                <a:spcPts val="30"/>
              </a:spcBef>
              <a:spcAft>
                <a:spcPts val="30"/>
              </a:spcAft>
              <a:buNone/>
            </a:pPr>
            <a:endParaRPr lang="en-US" sz="2400" dirty="0">
              <a:latin typeface="Times New Roman" panose="02020603050405020304" pitchFamily="18" charset="0"/>
              <a:cs typeface="Times New Roman" panose="02020603050405020304" pitchFamily="18" charset="0"/>
            </a:endParaRPr>
          </a:p>
          <a:p>
            <a:pPr marL="0" indent="0" algn="just">
              <a:buNone/>
              <a:defRPr/>
            </a:pPr>
            <a:r>
              <a:rPr lang="en-IN" sz="3000" dirty="0">
                <a:latin typeface="Times New Roman" panose="02020603050405020304" pitchFamily="18" charset="0"/>
                <a:cs typeface="Times New Roman" panose="02020603050405020304" pitchFamily="18" charset="0"/>
              </a:rPr>
              <a:t>Name of the Mentor: </a:t>
            </a:r>
            <a:r>
              <a:rPr lang="en-IN" sz="2400" dirty="0" err="1">
                <a:latin typeface="Times New Roman" panose="02020603050405020304" pitchFamily="18" charset="0"/>
                <a:cs typeface="Times New Roman" panose="02020603050405020304" pitchFamily="18" charset="0"/>
              </a:rPr>
              <a:t>Dr.Devika</a:t>
            </a:r>
            <a:r>
              <a:rPr lang="en-IN" sz="2400" dirty="0">
                <a:latin typeface="Times New Roman" panose="02020603050405020304" pitchFamily="18" charset="0"/>
                <a:cs typeface="Times New Roman" panose="02020603050405020304" pitchFamily="18" charset="0"/>
              </a:rPr>
              <a:t> P, Assistant Professor</a:t>
            </a:r>
          </a:p>
          <a:p>
            <a:pPr marL="0" indent="0" algn="just">
              <a:buNone/>
              <a:defRPr/>
            </a:pPr>
            <a:r>
              <a:rPr lang="en-US" sz="3000" dirty="0">
                <a:latin typeface="Times New Roman" panose="02020603050405020304" pitchFamily="18" charset="0"/>
                <a:cs typeface="Times New Roman" panose="02020603050405020304" pitchFamily="18" charset="0"/>
              </a:rPr>
              <a:t>E1CSA313 Design Project -1 </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D32EB1C-EBBB-5B7C-B862-62400C76D790}"/>
              </a:ext>
            </a:extLst>
          </p:cNvPr>
          <p:cNvSpPr>
            <a:spLocks noGrp="1"/>
          </p:cNvSpPr>
          <p:nvPr>
            <p:ph type="title"/>
          </p:nvPr>
        </p:nvSpPr>
        <p:spPr>
          <a:xfrm>
            <a:off x="609600" y="718348"/>
            <a:ext cx="10972800" cy="815484"/>
          </a:xfrm>
        </p:spPr>
        <p:txBody>
          <a:bodyPr>
            <a:normAutofit/>
          </a:bodyPr>
          <a:lstStyle/>
          <a:p>
            <a:r>
              <a:rPr lang="en-US" sz="3200" b="1" dirty="0">
                <a:latin typeface="Times New Roman" panose="02020603050405020304" pitchFamily="18" charset="0"/>
                <a:cs typeface="Times New Roman" panose="02020603050405020304" pitchFamily="18" charset="0"/>
              </a:rPr>
              <a:t>AI-Based Crop Disease Detection and Management System</a:t>
            </a:r>
            <a:endParaRPr lang="en-IN" sz="3200" b="1" dirty="0">
              <a:latin typeface="Times New Roman" panose="02020603050405020304" pitchFamily="18" charset="0"/>
              <a:cs typeface="Times New Roman" panose="02020603050405020304" pitchFamily="18" charset="0"/>
            </a:endParaRPr>
          </a:p>
        </p:txBody>
      </p:sp>
      <p:sp>
        <p:nvSpPr>
          <p:cNvPr id="2" name="Subtitle 5">
            <a:extLst>
              <a:ext uri="{FF2B5EF4-FFF2-40B4-BE49-F238E27FC236}">
                <a16:creationId xmlns:a16="http://schemas.microsoft.com/office/drawing/2014/main" id="{27730FEB-39A4-55AF-1A5E-7D14BEA4EF64}"/>
              </a:ext>
            </a:extLst>
          </p:cNvPr>
          <p:cNvSpPr txBox="1">
            <a:spLocks/>
          </p:cNvSpPr>
          <p:nvPr/>
        </p:nvSpPr>
        <p:spPr>
          <a:xfrm>
            <a:off x="1234008" y="784718"/>
            <a:ext cx="6346663" cy="749114"/>
          </a:xfrm>
          <a:prstGeom prst="rect">
            <a:avLst/>
          </a:prstGeom>
        </p:spPr>
        <p:txBody>
          <a:bodyPr vert="horz" lIns="91440" tIns="45720" rIns="91440" bIns="45720" rtlCol="0" anchor="t">
            <a:normAutofit/>
          </a:bodyPr>
          <a:lstStyle/>
          <a:p>
            <a:pPr>
              <a:spcBef>
                <a:spcPts val="0"/>
              </a:spcBef>
              <a:spcAft>
                <a:spcPts val="60"/>
              </a:spcAft>
            </a:pPr>
            <a:endParaRPr lang="en-US" sz="2400" b="1" dirty="0">
              <a:latin typeface="Times New Roman"/>
            </a:endParaRPr>
          </a:p>
        </p:txBody>
      </p:sp>
      <p:pic>
        <p:nvPicPr>
          <p:cNvPr id="4" name="Picture 3">
            <a:extLst>
              <a:ext uri="{FF2B5EF4-FFF2-40B4-BE49-F238E27FC236}">
                <a16:creationId xmlns:a16="http://schemas.microsoft.com/office/drawing/2014/main" id="{9D471D20-F6B2-348C-6B60-AFE0319ECD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54255" y="153857"/>
            <a:ext cx="3125501" cy="63086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037F-BF3C-25A0-59D8-5919CD38E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4E8D8-8E72-3C38-A5E9-E80E419F817B}"/>
              </a:ext>
            </a:extLst>
          </p:cNvPr>
          <p:cNvSpPr>
            <a:spLocks noGrp="1"/>
          </p:cNvSpPr>
          <p:nvPr>
            <p:ph idx="1"/>
          </p:nvPr>
        </p:nvSpPr>
        <p:spPr>
          <a:xfrm>
            <a:off x="609600" y="1234440"/>
            <a:ext cx="11175032" cy="5607638"/>
          </a:xfrm>
        </p:spPr>
        <p:txBody>
          <a:bodyPr>
            <a:noAutofit/>
          </a:bodyPr>
          <a:lstStyle/>
          <a:p>
            <a:pPr marL="0" indent="0">
              <a:spcBef>
                <a:spcPts val="40"/>
              </a:spcBef>
              <a:spcAft>
                <a:spcPts val="40"/>
              </a:spcAft>
              <a:buNone/>
            </a:pPr>
            <a:r>
              <a:rPr lang="en-US" sz="2400" dirty="0">
                <a:latin typeface="Times New Roman" panose="02020603050405020304" pitchFamily="18" charset="0"/>
                <a:cs typeface="Times New Roman" panose="02020603050405020304" pitchFamily="18" charset="0"/>
              </a:rPr>
              <a:t>1. Introduction</a:t>
            </a:r>
          </a:p>
          <a:p>
            <a:pPr marL="0" indent="0">
              <a:spcBef>
                <a:spcPts val="40"/>
              </a:spcBef>
              <a:spcAft>
                <a:spcPts val="40"/>
              </a:spcAft>
              <a:buNone/>
            </a:pPr>
            <a:r>
              <a:rPr lang="en-US" sz="2400" dirty="0">
                <a:latin typeface="Times New Roman" panose="02020603050405020304" pitchFamily="18" charset="0"/>
                <a:cs typeface="Times New Roman" panose="02020603050405020304" pitchFamily="18" charset="0"/>
              </a:rPr>
              <a:t>2. Review of Literature </a:t>
            </a:r>
          </a:p>
          <a:p>
            <a:pPr marL="0" indent="0">
              <a:spcBef>
                <a:spcPts val="40"/>
              </a:spcBef>
              <a:spcAft>
                <a:spcPts val="40"/>
              </a:spcAft>
              <a:buNone/>
            </a:pPr>
            <a:r>
              <a:rPr lang="en-US" sz="2400" dirty="0">
                <a:latin typeface="Times New Roman" panose="02020603050405020304" pitchFamily="18" charset="0"/>
                <a:cs typeface="Times New Roman" panose="02020603050405020304" pitchFamily="18" charset="0"/>
              </a:rPr>
              <a:t>3. Observations from Literature Review </a:t>
            </a:r>
          </a:p>
          <a:p>
            <a:pPr marL="0" indent="0">
              <a:spcBef>
                <a:spcPts val="40"/>
              </a:spcBef>
              <a:spcAft>
                <a:spcPts val="40"/>
              </a:spcAft>
              <a:buNone/>
            </a:pPr>
            <a:r>
              <a:rPr lang="en-US" sz="2400" dirty="0">
                <a:latin typeface="Times New Roman" panose="02020603050405020304" pitchFamily="18" charset="0"/>
                <a:cs typeface="Times New Roman" panose="02020603050405020304" pitchFamily="18" charset="0"/>
              </a:rPr>
              <a:t>4. Limitations from Literature Review </a:t>
            </a:r>
          </a:p>
          <a:p>
            <a:pPr marL="0" indent="0">
              <a:spcBef>
                <a:spcPts val="40"/>
              </a:spcBef>
              <a:spcAft>
                <a:spcPts val="40"/>
              </a:spcAft>
              <a:buNone/>
            </a:pPr>
            <a:r>
              <a:rPr lang="en-US" sz="2400" dirty="0">
                <a:latin typeface="Times New Roman" panose="02020603050405020304" pitchFamily="18" charset="0"/>
                <a:cs typeface="Times New Roman" panose="02020603050405020304" pitchFamily="18" charset="0"/>
              </a:rPr>
              <a:t>5. Problem Definition &amp; Scope </a:t>
            </a:r>
          </a:p>
          <a:p>
            <a:pPr marL="0" indent="0">
              <a:spcBef>
                <a:spcPts val="40"/>
              </a:spcBef>
              <a:spcAft>
                <a:spcPts val="40"/>
              </a:spcAft>
              <a:buNone/>
            </a:pPr>
            <a:r>
              <a:rPr lang="en-US" sz="2400" dirty="0">
                <a:latin typeface="Times New Roman" panose="02020603050405020304" pitchFamily="18" charset="0"/>
                <a:cs typeface="Times New Roman" panose="02020603050405020304" pitchFamily="18" charset="0"/>
              </a:rPr>
              <a:t>6. Proposed Solution &amp; Objectives </a:t>
            </a:r>
          </a:p>
        </p:txBody>
      </p:sp>
      <p:sp>
        <p:nvSpPr>
          <p:cNvPr id="3" name="Title 2">
            <a:extLst>
              <a:ext uri="{FF2B5EF4-FFF2-40B4-BE49-F238E27FC236}">
                <a16:creationId xmlns:a16="http://schemas.microsoft.com/office/drawing/2014/main" id="{68C7B745-FF8F-90D5-CAD4-FE7D38645D69}"/>
              </a:ext>
            </a:extLst>
          </p:cNvPr>
          <p:cNvSpPr>
            <a:spLocks noGrp="1"/>
          </p:cNvSpPr>
          <p:nvPr>
            <p:ph type="title"/>
          </p:nvPr>
        </p:nvSpPr>
        <p:spPr>
          <a:xfrm>
            <a:off x="1703882" y="171803"/>
            <a:ext cx="6180944" cy="563562"/>
          </a:xfrm>
        </p:spPr>
        <p:txBody>
          <a:bodyPr>
            <a:noAutofit/>
          </a:bodyPr>
          <a:lstStyle/>
          <a:p>
            <a:pPr algn="ctr">
              <a:lnSpc>
                <a:spcPct val="150000"/>
              </a:lnSpc>
            </a:pPr>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Agenda</a:t>
            </a:r>
            <a:br>
              <a:rPr lang="en-US" sz="3200" b="1"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81FBD98C-77FA-F4F3-D8D1-E351DADE67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24275" y="297702"/>
            <a:ext cx="3210257" cy="563562"/>
          </a:xfrm>
          <a:prstGeom prst="rect">
            <a:avLst/>
          </a:prstGeom>
        </p:spPr>
      </p:pic>
    </p:spTree>
    <p:extLst>
      <p:ext uri="{BB962C8B-B14F-4D97-AF65-F5344CB8AC3E}">
        <p14:creationId xmlns:p14="http://schemas.microsoft.com/office/powerpoint/2010/main" val="2893977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E9103-52C6-689F-10D5-B7A7B5531D4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B60A4D8-B9AD-8A2D-342E-E0AE9F24A2B1}"/>
              </a:ext>
            </a:extLst>
          </p:cNvPr>
          <p:cNvSpPr>
            <a:spLocks noGrp="1"/>
          </p:cNvSpPr>
          <p:nvPr>
            <p:ph idx="1"/>
          </p:nvPr>
        </p:nvSpPr>
        <p:spPr/>
        <p:txBody>
          <a:bodyPr>
            <a:noAutofit/>
          </a:bodyPr>
          <a:lstStyle/>
          <a:p>
            <a:r>
              <a:rPr lang="en-IN" sz="1800" dirty="0">
                <a:latin typeface="Times New Roman" panose="02020603050405020304" pitchFamily="18" charset="0"/>
                <a:cs typeface="Times New Roman" panose="02020603050405020304" pitchFamily="18" charset="0"/>
              </a:rPr>
              <a:t>Agriculture supports more than 60% of rural livelihoods in developing countries</a:t>
            </a:r>
          </a:p>
          <a:p>
            <a:r>
              <a:rPr lang="en-IN" sz="1800" dirty="0">
                <a:latin typeface="Times New Roman" panose="02020603050405020304" pitchFamily="18" charset="0"/>
                <a:cs typeface="Times New Roman" panose="02020603050405020304" pitchFamily="18" charset="0"/>
              </a:rPr>
              <a:t>Crop diseases and </a:t>
            </a:r>
            <a:r>
              <a:rPr lang="en-IN" sz="1800" dirty="0" err="1">
                <a:latin typeface="Times New Roman" panose="02020603050405020304" pitchFamily="18" charset="0"/>
                <a:cs typeface="Times New Roman" panose="02020603050405020304" pitchFamily="18" charset="0"/>
              </a:rPr>
              <a:t>unfavorable</a:t>
            </a:r>
            <a:r>
              <a:rPr lang="en-IN" sz="1800" dirty="0">
                <a:latin typeface="Times New Roman" panose="02020603050405020304" pitchFamily="18" charset="0"/>
                <a:cs typeface="Times New Roman" panose="02020603050405020304" pitchFamily="18" charset="0"/>
              </a:rPr>
              <a:t> environmental conditions cause major agricultural losses</a:t>
            </a:r>
          </a:p>
          <a:p>
            <a:r>
              <a:rPr lang="en-IN" sz="1800" dirty="0">
                <a:latin typeface="Times New Roman" panose="02020603050405020304" pitchFamily="18" charset="0"/>
                <a:cs typeface="Times New Roman" panose="02020603050405020304" pitchFamily="18" charset="0"/>
              </a:rPr>
              <a:t>These losses can seriously affect food security and farmers’ income</a:t>
            </a:r>
          </a:p>
          <a:p>
            <a:r>
              <a:rPr lang="en-IN" sz="1800" dirty="0">
                <a:latin typeface="Times New Roman" panose="02020603050405020304" pitchFamily="18" charset="0"/>
                <a:cs typeface="Times New Roman" panose="02020603050405020304" pitchFamily="18" charset="0"/>
              </a:rPr>
              <a:t>Biotic stress includes fungal, bacterial, and viral infections</a:t>
            </a:r>
          </a:p>
          <a:p>
            <a:r>
              <a:rPr lang="en-IN" sz="1800" dirty="0">
                <a:latin typeface="Times New Roman" panose="02020603050405020304" pitchFamily="18" charset="0"/>
                <a:cs typeface="Times New Roman" panose="02020603050405020304" pitchFamily="18" charset="0"/>
              </a:rPr>
              <a:t>Abiotic stress includes soil moisture depletion, temperature changes, pH variations, and nutrient deficiency</a:t>
            </a:r>
          </a:p>
          <a:p>
            <a:r>
              <a:rPr lang="en-IN" sz="1800" dirty="0">
                <a:latin typeface="Times New Roman" panose="02020603050405020304" pitchFamily="18" charset="0"/>
                <a:cs typeface="Times New Roman" panose="02020603050405020304" pitchFamily="18" charset="0"/>
              </a:rPr>
              <a:t>Traditional disease diagnosis relies mainly on manual inspection and laboratory testing</a:t>
            </a:r>
          </a:p>
          <a:p>
            <a:r>
              <a:rPr lang="en-IN" sz="1800" dirty="0">
                <a:latin typeface="Times New Roman" panose="02020603050405020304" pitchFamily="18" charset="0"/>
                <a:cs typeface="Times New Roman" panose="02020603050405020304" pitchFamily="18" charset="0"/>
              </a:rPr>
              <a:t>Manual diagnosis is costly, time-consuming, and dependent on experts</a:t>
            </a:r>
          </a:p>
          <a:p>
            <a:r>
              <a:rPr lang="en-IN" sz="1800" dirty="0">
                <a:latin typeface="Times New Roman" panose="02020603050405020304" pitchFamily="18" charset="0"/>
                <a:cs typeface="Times New Roman" panose="02020603050405020304" pitchFamily="18" charset="0"/>
              </a:rPr>
              <a:t>Diseases are often detected only after visible symptoms and crop damage appear</a:t>
            </a:r>
          </a:p>
          <a:p>
            <a:r>
              <a:rPr lang="en-IN" sz="1800" dirty="0">
                <a:latin typeface="Times New Roman" panose="02020603050405020304" pitchFamily="18" charset="0"/>
                <a:cs typeface="Times New Roman" panose="02020603050405020304" pitchFamily="18" charset="0"/>
              </a:rPr>
              <a:t>Deep learning and computer vision enable automated crop disease detection</a:t>
            </a:r>
          </a:p>
          <a:p>
            <a:r>
              <a:rPr lang="en-IN" sz="1800" dirty="0">
                <a:latin typeface="Times New Roman" panose="02020603050405020304" pitchFamily="18" charset="0"/>
                <a:cs typeface="Times New Roman" panose="02020603050405020304" pitchFamily="18" charset="0"/>
              </a:rPr>
              <a:t>IoT sensors combined with AI enable continuous monitoring and early, proactive crop health management</a:t>
            </a:r>
          </a:p>
        </p:txBody>
      </p:sp>
      <p:sp>
        <p:nvSpPr>
          <p:cNvPr id="4" name="Title 3">
            <a:extLst>
              <a:ext uri="{FF2B5EF4-FFF2-40B4-BE49-F238E27FC236}">
                <a16:creationId xmlns:a16="http://schemas.microsoft.com/office/drawing/2014/main" id="{3C4CB520-A912-DADE-9853-2F838EACEC0A}"/>
              </a:ext>
            </a:extLst>
          </p:cNvPr>
          <p:cNvSpPr>
            <a:spLocks noGrp="1"/>
          </p:cNvSpPr>
          <p:nvPr>
            <p:ph type="title"/>
          </p:nvPr>
        </p:nvSpPr>
        <p:spPr>
          <a:xfrm>
            <a:off x="609600" y="228600"/>
            <a:ext cx="10972800" cy="1005840"/>
          </a:xfrm>
        </p:spPr>
        <p:txBody>
          <a:bodyPr>
            <a:normAutofit/>
          </a:bodyPr>
          <a:lstStyle/>
          <a:p>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046E4DE-BCE0-C9B2-CDC2-1E28119D86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4256" y="134859"/>
            <a:ext cx="3184992" cy="563562"/>
          </a:xfrm>
          <a:prstGeom prst="rect">
            <a:avLst/>
          </a:prstGeom>
        </p:spPr>
      </p:pic>
    </p:spTree>
    <p:extLst>
      <p:ext uri="{BB962C8B-B14F-4D97-AF65-F5344CB8AC3E}">
        <p14:creationId xmlns:p14="http://schemas.microsoft.com/office/powerpoint/2010/main" val="30897458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03B4-DE94-29CC-B902-989E208344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E99C9E-6A0E-333F-5A49-29CB3CF69502}"/>
              </a:ext>
            </a:extLst>
          </p:cNvPr>
          <p:cNvSpPr>
            <a:spLocks noGrp="1"/>
          </p:cNvSpPr>
          <p:nvPr>
            <p:ph type="title"/>
          </p:nvPr>
        </p:nvSpPr>
        <p:spPr/>
        <p:txBody>
          <a:bodyPr>
            <a:noAutofit/>
          </a:bodyPr>
          <a:lstStyle/>
          <a:p>
            <a:pPr algn="ctr">
              <a:lnSpc>
                <a:spcPct val="150000"/>
              </a:lnSpc>
            </a:pPr>
            <a:r>
              <a:rPr lang="en-US" sz="3200" b="1" dirty="0">
                <a:latin typeface="Times New Roman" panose="02020603050405020304" pitchFamily="18" charset="0"/>
                <a:cs typeface="Times New Roman" panose="02020603050405020304" pitchFamily="18" charset="0"/>
              </a:rPr>
              <a:t>Review of literature</a:t>
            </a:r>
          </a:p>
        </p:txBody>
      </p:sp>
      <p:graphicFrame>
        <p:nvGraphicFramePr>
          <p:cNvPr id="2" name="Table 1">
            <a:extLst>
              <a:ext uri="{FF2B5EF4-FFF2-40B4-BE49-F238E27FC236}">
                <a16:creationId xmlns:a16="http://schemas.microsoft.com/office/drawing/2014/main" id="{E80844F9-8385-782E-0B9C-345478913A32}"/>
              </a:ext>
            </a:extLst>
          </p:cNvPr>
          <p:cNvGraphicFramePr>
            <a:graphicFrameLocks noGrp="1"/>
          </p:cNvGraphicFramePr>
          <p:nvPr>
            <p:extLst>
              <p:ext uri="{D42A27DB-BD31-4B8C-83A1-F6EECF244321}">
                <p14:modId xmlns:p14="http://schemas.microsoft.com/office/powerpoint/2010/main" val="1950365504"/>
              </p:ext>
            </p:extLst>
          </p:nvPr>
        </p:nvGraphicFramePr>
        <p:xfrm>
          <a:off x="427703" y="1135626"/>
          <a:ext cx="11350000" cy="5591782"/>
        </p:xfrm>
        <a:graphic>
          <a:graphicData uri="http://schemas.openxmlformats.org/drawingml/2006/table">
            <a:tbl>
              <a:tblPr firstRow="1"/>
              <a:tblGrid>
                <a:gridCol w="650000">
                  <a:extLst>
                    <a:ext uri="{9D8B030D-6E8A-4147-A177-3AD203B41FA5}">
                      <a16:colId xmlns:a16="http://schemas.microsoft.com/office/drawing/2014/main" val="20000"/>
                    </a:ext>
                  </a:extLst>
                </a:gridCol>
                <a:gridCol w="2450000">
                  <a:extLst>
                    <a:ext uri="{9D8B030D-6E8A-4147-A177-3AD203B41FA5}">
                      <a16:colId xmlns:a16="http://schemas.microsoft.com/office/drawing/2014/main" val="20001"/>
                    </a:ext>
                  </a:extLst>
                </a:gridCol>
                <a:gridCol w="2450000">
                  <a:extLst>
                    <a:ext uri="{9D8B030D-6E8A-4147-A177-3AD203B41FA5}">
                      <a16:colId xmlns:a16="http://schemas.microsoft.com/office/drawing/2014/main" val="20002"/>
                    </a:ext>
                  </a:extLst>
                </a:gridCol>
                <a:gridCol w="1850000">
                  <a:extLst>
                    <a:ext uri="{9D8B030D-6E8A-4147-A177-3AD203B41FA5}">
                      <a16:colId xmlns:a16="http://schemas.microsoft.com/office/drawing/2014/main" val="20003"/>
                    </a:ext>
                  </a:extLst>
                </a:gridCol>
                <a:gridCol w="2050000">
                  <a:extLst>
                    <a:ext uri="{9D8B030D-6E8A-4147-A177-3AD203B41FA5}">
                      <a16:colId xmlns:a16="http://schemas.microsoft.com/office/drawing/2014/main" val="20004"/>
                    </a:ext>
                  </a:extLst>
                </a:gridCol>
                <a:gridCol w="1900000">
                  <a:extLst>
                    <a:ext uri="{9D8B030D-6E8A-4147-A177-3AD203B41FA5}">
                      <a16:colId xmlns:a16="http://schemas.microsoft.com/office/drawing/2014/main" val="20005"/>
                    </a:ext>
                  </a:extLst>
                </a:gridCol>
              </a:tblGrid>
              <a:tr h="907358">
                <a:tc>
                  <a:txBody>
                    <a:bodyPr/>
                    <a:lstStyle/>
                    <a:p>
                      <a:pPr algn="ctr">
                        <a:spcBef>
                          <a:spcPts val="0"/>
                        </a:spcBef>
                        <a:spcAft>
                          <a:spcPts val="0"/>
                        </a:spcAft>
                      </a:pPr>
                      <a:r>
                        <a:rPr lang="en-US" sz="1200" b="1" dirty="0" err="1">
                          <a:solidFill>
                            <a:srgbClr val="FFFFFF"/>
                          </a:solidFill>
                          <a:latin typeface="Times New Roman" panose="02020603050405020304" pitchFamily="18" charset="0"/>
                          <a:cs typeface="Times New Roman" panose="02020603050405020304" pitchFamily="18" charset="0"/>
                        </a:rPr>
                        <a:t>S.No</a:t>
                      </a:r>
                      <a:endParaRPr lang="en-US" sz="1200" b="1" dirty="0">
                        <a:solidFill>
                          <a:srgbClr val="FFFFFF"/>
                        </a:solidFill>
                        <a:latin typeface="Times New Roman" panose="02020603050405020304" pitchFamily="18" charset="0"/>
                        <a:cs typeface="Times New Roman" panose="02020603050405020304" pitchFamily="18" charset="0"/>
                      </a:endParaRPr>
                    </a:p>
                  </a:txBody>
                  <a:tcPr marL="45720" marR="45720" marT="30000" marB="30000">
                    <a:solidFill>
                      <a:srgbClr val="1F4E79"/>
                    </a:solidFill>
                  </a:tcPr>
                </a:tc>
                <a:tc>
                  <a:txBody>
                    <a:bodyPr/>
                    <a:lstStyle/>
                    <a:p>
                      <a:pPr algn="ctr">
                        <a:spcBef>
                          <a:spcPts val="0"/>
                        </a:spcBef>
                        <a:spcAft>
                          <a:spcPts val="0"/>
                        </a:spcAft>
                      </a:pPr>
                      <a:r>
                        <a:rPr lang="en-US" sz="1200" b="1" dirty="0">
                          <a:solidFill>
                            <a:srgbClr val="FFFFFF"/>
                          </a:solidFill>
                          <a:latin typeface="Times New Roman" panose="02020603050405020304" pitchFamily="18" charset="0"/>
                          <a:cs typeface="Times New Roman" panose="02020603050405020304" pitchFamily="18" charset="0"/>
                        </a:rPr>
                        <a:t>Author Name, Journal, Publication Year</a:t>
                      </a:r>
                    </a:p>
                  </a:txBody>
                  <a:tcPr marL="45720" marR="45720" marT="30000" marB="30000">
                    <a:solidFill>
                      <a:srgbClr val="1F4E79"/>
                    </a:solidFill>
                  </a:tcPr>
                </a:tc>
                <a:tc>
                  <a:txBody>
                    <a:bodyPr/>
                    <a:lstStyle/>
                    <a:p>
                      <a:pPr algn="ctr">
                        <a:spcBef>
                          <a:spcPts val="0"/>
                        </a:spcBef>
                        <a:spcAft>
                          <a:spcPts val="0"/>
                        </a:spcAft>
                      </a:pPr>
                      <a:r>
                        <a:rPr lang="en-US" sz="1200" b="1">
                          <a:solidFill>
                            <a:srgbClr val="FFFFFF"/>
                          </a:solidFill>
                          <a:latin typeface="Times New Roman" panose="02020603050405020304" pitchFamily="18" charset="0"/>
                          <a:cs typeface="Times New Roman" panose="02020603050405020304" pitchFamily="18" charset="0"/>
                        </a:rPr>
                        <a:t>Research/ Methodology</a:t>
                      </a:r>
                    </a:p>
                  </a:txBody>
                  <a:tcPr marL="45720" marR="45720" marT="30000" marB="30000">
                    <a:solidFill>
                      <a:srgbClr val="1F4E79"/>
                    </a:solidFill>
                  </a:tcPr>
                </a:tc>
                <a:tc>
                  <a:txBody>
                    <a:bodyPr/>
                    <a:lstStyle/>
                    <a:p>
                      <a:pPr algn="ctr">
                        <a:spcBef>
                          <a:spcPts val="0"/>
                        </a:spcBef>
                        <a:spcAft>
                          <a:spcPts val="0"/>
                        </a:spcAft>
                      </a:pPr>
                      <a:r>
                        <a:rPr lang="en-US" sz="1200" b="1">
                          <a:solidFill>
                            <a:srgbClr val="FFFFFF"/>
                          </a:solidFill>
                          <a:latin typeface="Times New Roman" panose="02020603050405020304" pitchFamily="18" charset="0"/>
                          <a:cs typeface="Times New Roman" panose="02020603050405020304" pitchFamily="18" charset="0"/>
                        </a:rPr>
                        <a:t>Performance Metrics</a:t>
                      </a:r>
                    </a:p>
                  </a:txBody>
                  <a:tcPr marL="45720" marR="45720" marT="30000" marB="30000">
                    <a:solidFill>
                      <a:srgbClr val="1F4E79"/>
                    </a:solidFill>
                  </a:tcPr>
                </a:tc>
                <a:tc>
                  <a:txBody>
                    <a:bodyPr/>
                    <a:lstStyle/>
                    <a:p>
                      <a:pPr algn="ctr">
                        <a:spcBef>
                          <a:spcPts val="0"/>
                        </a:spcBef>
                        <a:spcAft>
                          <a:spcPts val="0"/>
                        </a:spcAft>
                      </a:pPr>
                      <a:r>
                        <a:rPr lang="en-US" sz="1200" b="1">
                          <a:solidFill>
                            <a:srgbClr val="FFFFFF"/>
                          </a:solidFill>
                          <a:latin typeface="Times New Roman" panose="02020603050405020304" pitchFamily="18" charset="0"/>
                          <a:cs typeface="Times New Roman" panose="02020603050405020304" pitchFamily="18" charset="0"/>
                        </a:rPr>
                        <a:t>Advantages</a:t>
                      </a:r>
                    </a:p>
                  </a:txBody>
                  <a:tcPr marL="45720" marR="45720" marT="30000" marB="30000">
                    <a:solidFill>
                      <a:srgbClr val="1F4E79"/>
                    </a:solidFill>
                  </a:tcPr>
                </a:tc>
                <a:tc>
                  <a:txBody>
                    <a:bodyPr/>
                    <a:lstStyle/>
                    <a:p>
                      <a:pPr algn="ctr">
                        <a:spcBef>
                          <a:spcPts val="0"/>
                        </a:spcBef>
                        <a:spcAft>
                          <a:spcPts val="0"/>
                        </a:spcAft>
                      </a:pPr>
                      <a:r>
                        <a:rPr lang="en-US" sz="1200" b="1">
                          <a:solidFill>
                            <a:srgbClr val="FFFFFF"/>
                          </a:solidFill>
                          <a:latin typeface="Times New Roman" panose="02020603050405020304" pitchFamily="18" charset="0"/>
                          <a:cs typeface="Times New Roman" panose="02020603050405020304" pitchFamily="18" charset="0"/>
                        </a:rPr>
                        <a:t>Disadvantages</a:t>
                      </a:r>
                    </a:p>
                  </a:txBody>
                  <a:tcPr marL="45720" marR="45720" marT="30000" marB="30000">
                    <a:solidFill>
                      <a:srgbClr val="1F4E79"/>
                    </a:solidFill>
                  </a:tcPr>
                </a:tc>
                <a:extLst>
                  <a:ext uri="{0D108BD9-81ED-4DB2-BD59-A6C34878D82A}">
                    <a16:rowId xmlns:a16="http://schemas.microsoft.com/office/drawing/2014/main" val="10000"/>
                  </a:ext>
                </a:extLst>
              </a:tr>
              <a:tr h="864248">
                <a:tc>
                  <a:txBody>
                    <a:bodyPr/>
                    <a:lstStyle/>
                    <a:p>
                      <a:pPr algn="ctr">
                        <a:spcBef>
                          <a:spcPts val="0"/>
                        </a:spcBef>
                        <a:spcAft>
                          <a:spcPts val="0"/>
                        </a:spcAft>
                      </a:pPr>
                      <a:r>
                        <a:rPr lang="en-US" sz="1200" b="1">
                          <a:latin typeface="Times New Roman" panose="02020603050405020304" pitchFamily="18" charset="0"/>
                          <a:cs typeface="Times New Roman" panose="02020603050405020304" pitchFamily="18" charset="0"/>
                        </a:rPr>
                        <a:t>1</a:t>
                      </a:r>
                    </a:p>
                  </a:txBody>
                  <a:tcPr marL="36000" marR="36000" marT="20000" marB="20000">
                    <a:solidFill>
                      <a:srgbClr val="F2F5F9"/>
                    </a:solidFill>
                  </a:tcPr>
                </a:tc>
                <a:tc>
                  <a:txBody>
                    <a:bodyPr/>
                    <a:lstStyle/>
                    <a:p>
                      <a:pPr algn="l">
                        <a:spcBef>
                          <a:spcPts val="0"/>
                        </a:spcBef>
                        <a:spcAft>
                          <a:spcPts val="0"/>
                        </a:spcAft>
                      </a:pPr>
                      <a:r>
                        <a:rPr lang="en-IN" sz="1200" dirty="0">
                          <a:latin typeface="Times New Roman" panose="02020603050405020304" pitchFamily="18" charset="0"/>
                          <a:cs typeface="Times New Roman" panose="02020603050405020304" pitchFamily="18" charset="0"/>
                        </a:rPr>
                        <a:t>Sana Ibrahim Tamboli, </a:t>
                      </a:r>
                      <a:r>
                        <a:rPr lang="en-IN" sz="1200" dirty="0" err="1">
                          <a:latin typeface="Times New Roman" panose="02020603050405020304" pitchFamily="18" charset="0"/>
                          <a:cs typeface="Times New Roman" panose="02020603050405020304" pitchFamily="18" charset="0"/>
                        </a:rPr>
                        <a:t>Pandharinath</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Ghonge</a:t>
                      </a:r>
                      <a:r>
                        <a:rPr lang="en-IN" sz="1200" dirty="0">
                          <a:latin typeface="Times New Roman" panose="02020603050405020304" pitchFamily="18" charset="0"/>
                          <a:cs typeface="Times New Roman" panose="02020603050405020304" pitchFamily="18" charset="0"/>
                        </a:rPr>
                        <a:t>, Manish Rana</a:t>
                      </a:r>
                    </a:p>
                    <a:p>
                      <a:pPr algn="l">
                        <a:spcBef>
                          <a:spcPts val="0"/>
                        </a:spcBef>
                        <a:spcAft>
                          <a:spcPts val="0"/>
                        </a:spcAft>
                      </a:pPr>
                      <a:r>
                        <a:rPr lang="en-US" sz="1200" b="1" dirty="0">
                          <a:latin typeface="Times New Roman" panose="02020603050405020304" pitchFamily="18" charset="0"/>
                          <a:cs typeface="Times New Roman" panose="02020603050405020304" pitchFamily="18" charset="0"/>
                        </a:rPr>
                        <a:t>JESIT (Springer)</a:t>
                      </a:r>
                    </a:p>
                    <a:p>
                      <a:pPr algn="l">
                        <a:spcBef>
                          <a:spcPts val="0"/>
                        </a:spcBef>
                        <a:spcAft>
                          <a:spcPts val="0"/>
                        </a:spcAft>
                      </a:pPr>
                      <a:r>
                        <a:rPr lang="en-US" sz="1200" b="1" dirty="0">
                          <a:latin typeface="Times New Roman" panose="02020603050405020304" pitchFamily="18" charset="0"/>
                          <a:cs typeface="Times New Roman" panose="02020603050405020304" pitchFamily="18" charset="0"/>
                        </a:rPr>
                        <a:t>2026 [Base Paper]</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Dual-Module: EfficientNetB4 + CBAM attention on 70,293 leaf images (38 classes) + Stacking Ensemble on IoT telemetry.</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Val Acc: 98.07%</a:t>
                      </a:r>
                    </a:p>
                    <a:p>
                      <a:pPr algn="l">
                        <a:spcBef>
                          <a:spcPts val="0"/>
                        </a:spcBef>
                        <a:spcAft>
                          <a:spcPts val="0"/>
                        </a:spcAft>
                      </a:pPr>
                      <a:r>
                        <a:rPr lang="en-US" sz="1200">
                          <a:latin typeface="Times New Roman" panose="02020603050405020304" pitchFamily="18" charset="0"/>
                          <a:cs typeface="Times New Roman" panose="02020603050405020304" pitchFamily="18" charset="0"/>
                        </a:rPr>
                        <a:t>Train Acc: 98.52%</a:t>
                      </a:r>
                    </a:p>
                    <a:p>
                      <a:pPr algn="l">
                        <a:spcBef>
                          <a:spcPts val="0"/>
                        </a:spcBef>
                        <a:spcAft>
                          <a:spcPts val="0"/>
                        </a:spcAft>
                      </a:pPr>
                      <a:r>
                        <a:rPr lang="en-US" sz="1200">
                          <a:latin typeface="Times New Roman" panose="02020603050405020304" pitchFamily="18" charset="0"/>
                          <a:cs typeface="Times New Roman" panose="02020603050405020304" pitchFamily="18" charset="0"/>
                        </a:rPr>
                        <a:t>High F1 in stress classification</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Dual biotic + abiotic coverage; CBAM captures subtle lesions; functional web prototype.</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Modules run in silos (no joint latent fusion); manual sensor entry; no treatment dosage.</a:t>
                      </a:r>
                    </a:p>
                  </a:txBody>
                  <a:tcPr marL="36000" marR="36000" marT="20000" marB="20000">
                    <a:solidFill>
                      <a:srgbClr val="F2F5F9"/>
                    </a:solidFill>
                  </a:tcPr>
                </a:tc>
                <a:extLst>
                  <a:ext uri="{0D108BD9-81ED-4DB2-BD59-A6C34878D82A}">
                    <a16:rowId xmlns:a16="http://schemas.microsoft.com/office/drawing/2014/main" val="10001"/>
                  </a:ext>
                </a:extLst>
              </a:tr>
              <a:tr h="864248">
                <a:tc>
                  <a:txBody>
                    <a:bodyPr/>
                    <a:lstStyle/>
                    <a:p>
                      <a:pPr algn="ctr">
                        <a:spcBef>
                          <a:spcPts val="0"/>
                        </a:spcBef>
                        <a:spcAft>
                          <a:spcPts val="0"/>
                        </a:spcAft>
                      </a:pPr>
                      <a:r>
                        <a:rPr lang="en-US" sz="1200" b="1">
                          <a:latin typeface="Times New Roman" panose="02020603050405020304" pitchFamily="18" charset="0"/>
                          <a:cs typeface="Times New Roman" panose="02020603050405020304" pitchFamily="18" charset="0"/>
                        </a:rPr>
                        <a:t>2</a:t>
                      </a:r>
                    </a:p>
                  </a:txBody>
                  <a:tcPr marL="36000" marR="36000" marT="20000" marB="20000">
                    <a:solidFill>
                      <a:srgbClr val="FFFFFF"/>
                    </a:solidFill>
                  </a:tcPr>
                </a:tc>
                <a:tc>
                  <a:txBody>
                    <a:bodyPr/>
                    <a:lstStyle/>
                    <a:p>
                      <a:pPr algn="l">
                        <a:spcBef>
                          <a:spcPts val="0"/>
                        </a:spcBef>
                        <a:spcAft>
                          <a:spcPts val="0"/>
                        </a:spcAft>
                      </a:pPr>
                      <a:r>
                        <a:rPr lang="en-IN" sz="1200" dirty="0">
                          <a:latin typeface="Times New Roman" panose="02020603050405020304" pitchFamily="18" charset="0"/>
                          <a:cs typeface="Times New Roman" panose="02020603050405020304" pitchFamily="18" charset="0"/>
                        </a:rPr>
                        <a:t>Divyanshu Tirkey, Kshitiz Kumar Singh, </a:t>
                      </a:r>
                      <a:r>
                        <a:rPr lang="en-IN" sz="1200" dirty="0" err="1">
                          <a:latin typeface="Times New Roman" panose="02020603050405020304" pitchFamily="18" charset="0"/>
                          <a:cs typeface="Times New Roman" panose="02020603050405020304" pitchFamily="18" charset="0"/>
                        </a:rPr>
                        <a:t>Shrivishal</a:t>
                      </a:r>
                      <a:r>
                        <a:rPr lang="en-IN" sz="1200" dirty="0">
                          <a:latin typeface="Times New Roman" panose="02020603050405020304" pitchFamily="18" charset="0"/>
                          <a:cs typeface="Times New Roman" panose="02020603050405020304" pitchFamily="18" charset="0"/>
                        </a:rPr>
                        <a:t> Tripathi</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Smart Agric. Tech.</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2023 (Elsevier)</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Empirical benchmarking of diverse AI/ML models (CNN, VGG, ResNet, SVM, Random Forest) on standardized disease benchmarks.</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Detailed comparison of Accuracy (&gt;95% for CNNs), Sensitivity, Specificity</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Extensive multi-model baseline comparison; standardizes model selection criteria.</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Review/benchmark only; no novel system; lacks abiotic stress and hardware testing.</a:t>
                      </a:r>
                    </a:p>
                  </a:txBody>
                  <a:tcPr marL="36000" marR="36000" marT="20000" marB="20000">
                    <a:solidFill>
                      <a:srgbClr val="FFFFFF"/>
                    </a:solidFill>
                  </a:tcPr>
                </a:tc>
                <a:extLst>
                  <a:ext uri="{0D108BD9-81ED-4DB2-BD59-A6C34878D82A}">
                    <a16:rowId xmlns:a16="http://schemas.microsoft.com/office/drawing/2014/main" val="10002"/>
                  </a:ext>
                </a:extLst>
              </a:tr>
              <a:tr h="864248">
                <a:tc>
                  <a:txBody>
                    <a:bodyPr/>
                    <a:lstStyle/>
                    <a:p>
                      <a:pPr algn="ctr">
                        <a:spcBef>
                          <a:spcPts val="0"/>
                        </a:spcBef>
                        <a:spcAft>
                          <a:spcPts val="0"/>
                        </a:spcAft>
                      </a:pPr>
                      <a:r>
                        <a:rPr lang="en-US" sz="1200" b="1">
                          <a:latin typeface="Times New Roman" panose="02020603050405020304" pitchFamily="18" charset="0"/>
                          <a:cs typeface="Times New Roman" panose="02020603050405020304" pitchFamily="18" charset="0"/>
                        </a:rPr>
                        <a:t>3</a:t>
                      </a:r>
                    </a:p>
                  </a:txBody>
                  <a:tcPr marL="36000" marR="36000" marT="20000" marB="20000">
                    <a:solidFill>
                      <a:srgbClr val="F2F5F9"/>
                    </a:solidFill>
                  </a:tcPr>
                </a:tc>
                <a:tc>
                  <a:txBody>
                    <a:bodyPr/>
                    <a:lstStyle/>
                    <a:p>
                      <a:pPr algn="l">
                        <a:spcBef>
                          <a:spcPts val="0"/>
                        </a:spcBef>
                        <a:spcAft>
                          <a:spcPts val="0"/>
                        </a:spcAft>
                      </a:pPr>
                      <a:r>
                        <a:rPr lang="en-IN" sz="1200" dirty="0">
                          <a:latin typeface="Times New Roman" panose="02020603050405020304" pitchFamily="18" charset="0"/>
                          <a:cs typeface="Times New Roman" panose="02020603050405020304" pitchFamily="18" charset="0"/>
                        </a:rPr>
                        <a:t>Muhammad Subhan, Nadim Rana, Farhan Qamar, </a:t>
                      </a:r>
                      <a:r>
                        <a:rPr lang="en-IN" sz="1200" dirty="0" err="1">
                          <a:latin typeface="Times New Roman" panose="02020603050405020304" pitchFamily="18" charset="0"/>
                          <a:cs typeface="Times New Roman" panose="02020603050405020304" pitchFamily="18" charset="0"/>
                        </a:rPr>
                        <a:t>Fathe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Jeribi</a:t>
                      </a:r>
                      <a:r>
                        <a:rPr lang="en-IN" sz="1200" dirty="0">
                          <a:latin typeface="Times New Roman" panose="02020603050405020304" pitchFamily="18" charset="0"/>
                          <a:cs typeface="Times New Roman" panose="02020603050405020304" pitchFamily="18" charset="0"/>
                        </a:rPr>
                        <a:t>, Abdulrahman Hassan Alhazmi, Ali Tahir, Romana Shahzadi</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Discover Computing</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2026 (Springer)</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Lightweight EfficientNetB0 deep learning architecture with compound scaling for fine-grained leaf disease feature extraction.</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Accuracy &gt; 96.5%</a:t>
                      </a:r>
                    </a:p>
                    <a:p>
                      <a:pPr algn="l">
                        <a:spcBef>
                          <a:spcPts val="0"/>
                        </a:spcBef>
                        <a:spcAft>
                          <a:spcPts val="0"/>
                        </a:spcAft>
                      </a:pPr>
                      <a:r>
                        <a:rPr lang="en-US" sz="1200">
                          <a:latin typeface="Times New Roman" panose="02020603050405020304" pitchFamily="18" charset="0"/>
                          <a:cs typeface="Times New Roman" panose="02020603050405020304" pitchFamily="18" charset="0"/>
                        </a:rPr>
                        <a:t>Params: ~5.3M</a:t>
                      </a:r>
                    </a:p>
                    <a:p>
                      <a:pPr algn="l">
                        <a:spcBef>
                          <a:spcPts val="0"/>
                        </a:spcBef>
                        <a:spcAft>
                          <a:spcPts val="0"/>
                        </a:spcAft>
                      </a:pPr>
                      <a:r>
                        <a:rPr lang="en-US" sz="1200">
                          <a:latin typeface="Times New Roman" panose="02020603050405020304" pitchFamily="18" charset="0"/>
                          <a:cs typeface="Times New Roman" panose="02020603050405020304" pitchFamily="18" charset="0"/>
                        </a:rPr>
                        <a:t>Low computational FLOPs</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Highly compact model footprint; optimal for low-power edge and mobile deployment.</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Image-only classification; ignores environmental soil stress; no treatment advice.</a:t>
                      </a:r>
                    </a:p>
                  </a:txBody>
                  <a:tcPr marL="36000" marR="36000" marT="20000" marB="20000">
                    <a:solidFill>
                      <a:srgbClr val="F2F5F9"/>
                    </a:solidFill>
                  </a:tcPr>
                </a:tc>
                <a:extLst>
                  <a:ext uri="{0D108BD9-81ED-4DB2-BD59-A6C34878D82A}">
                    <a16:rowId xmlns:a16="http://schemas.microsoft.com/office/drawing/2014/main" val="10003"/>
                  </a:ext>
                </a:extLst>
              </a:tr>
              <a:tr h="864248">
                <a:tc>
                  <a:txBody>
                    <a:bodyPr/>
                    <a:lstStyle/>
                    <a:p>
                      <a:pPr algn="ctr">
                        <a:spcBef>
                          <a:spcPts val="0"/>
                        </a:spcBef>
                        <a:spcAft>
                          <a:spcPts val="0"/>
                        </a:spcAft>
                      </a:pPr>
                      <a:r>
                        <a:rPr lang="en-US" sz="1200" b="1">
                          <a:latin typeface="Times New Roman" panose="02020603050405020304" pitchFamily="18" charset="0"/>
                          <a:cs typeface="Times New Roman" panose="02020603050405020304" pitchFamily="18" charset="0"/>
                        </a:rPr>
                        <a:t>4</a:t>
                      </a:r>
                    </a:p>
                  </a:txBody>
                  <a:tcPr marL="36000" marR="36000" marT="20000" marB="20000">
                    <a:solidFill>
                      <a:srgbClr val="FFFFFF"/>
                    </a:solidFill>
                  </a:tcPr>
                </a:tc>
                <a:tc>
                  <a:txBody>
                    <a:bodyPr/>
                    <a:lstStyle/>
                    <a:p>
                      <a:pPr algn="l">
                        <a:spcBef>
                          <a:spcPts val="0"/>
                        </a:spcBef>
                        <a:spcAft>
                          <a:spcPts val="0"/>
                        </a:spcAft>
                      </a:pPr>
                      <a:r>
                        <a:rPr lang="en-IN" sz="1200" dirty="0">
                          <a:latin typeface="Times New Roman" panose="02020603050405020304" pitchFamily="18" charset="0"/>
                          <a:cs typeface="Times New Roman" panose="02020603050405020304" pitchFamily="18" charset="0"/>
                        </a:rPr>
                        <a:t>Munir </a:t>
                      </a:r>
                      <a:r>
                        <a:rPr lang="en-IN" sz="1200" dirty="0" err="1">
                          <a:latin typeface="Times New Roman" panose="02020603050405020304" pitchFamily="18" charset="0"/>
                          <a:cs typeface="Times New Roman" panose="02020603050405020304" pitchFamily="18" charset="0"/>
                        </a:rPr>
                        <a:t>Majdalawieh</a:t>
                      </a:r>
                      <a:r>
                        <a:rPr lang="en-IN" sz="1200" dirty="0">
                          <a:latin typeface="Times New Roman" panose="02020603050405020304" pitchFamily="18" charset="0"/>
                          <a:cs typeface="Times New Roman" panose="02020603050405020304" pitchFamily="18" charset="0"/>
                        </a:rPr>
                        <a:t>, Carla Martins, Mohammed Radi, Maher </a:t>
                      </a:r>
                      <a:r>
                        <a:rPr lang="en-IN" sz="1200" dirty="0" err="1">
                          <a:latin typeface="Times New Roman" panose="02020603050405020304" pitchFamily="18" charset="0"/>
                          <a:cs typeface="Times New Roman" panose="02020603050405020304" pitchFamily="18" charset="0"/>
                        </a:rPr>
                        <a:t>Ala’raj</a:t>
                      </a:r>
                      <a:r>
                        <a:rPr lang="en-IN" sz="1200" dirty="0">
                          <a:latin typeface="Times New Roman" panose="02020603050405020304" pitchFamily="18" charset="0"/>
                          <a:cs typeface="Times New Roman" panose="02020603050405020304" pitchFamily="18" charset="0"/>
                        </a:rPr>
                        <a:t>, Shafaq Khan</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Smart Agric. Tech.</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2025 (Elsevier)</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PRISMA-guided systematic review of ML/DL paradigms, dataset diversity, and preprocessing techniques across 150+ studies.</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Synthesized accuracy distributions; DL (&gt;95%) consistently beats classical ML</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Comprehensive taxonomic map of precision agriculture AI; outlines deployment hurdles.</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Theoretical review only; no empirical implementation or deployed farmer platform.</a:t>
                      </a:r>
                    </a:p>
                  </a:txBody>
                  <a:tcPr marL="36000" marR="36000" marT="20000" marB="20000">
                    <a:solidFill>
                      <a:srgbClr val="FFFFFF"/>
                    </a:solidFill>
                  </a:tcPr>
                </a:tc>
                <a:extLst>
                  <a:ext uri="{0D108BD9-81ED-4DB2-BD59-A6C34878D82A}">
                    <a16:rowId xmlns:a16="http://schemas.microsoft.com/office/drawing/2014/main" val="10004"/>
                  </a:ext>
                </a:extLst>
              </a:tr>
              <a:tr h="864248">
                <a:tc>
                  <a:txBody>
                    <a:bodyPr/>
                    <a:lstStyle/>
                    <a:p>
                      <a:pPr algn="ctr">
                        <a:spcBef>
                          <a:spcPts val="0"/>
                        </a:spcBef>
                        <a:spcAft>
                          <a:spcPts val="0"/>
                        </a:spcAft>
                      </a:pPr>
                      <a:r>
                        <a:rPr lang="en-US" sz="1200" b="1">
                          <a:latin typeface="Times New Roman" panose="02020603050405020304" pitchFamily="18" charset="0"/>
                          <a:cs typeface="Times New Roman" panose="02020603050405020304" pitchFamily="18" charset="0"/>
                        </a:rPr>
                        <a:t>5</a:t>
                      </a:r>
                    </a:p>
                  </a:txBody>
                  <a:tcPr marL="36000" marR="36000" marT="20000" marB="20000">
                    <a:solidFill>
                      <a:srgbClr val="F2F5F9"/>
                    </a:solidFill>
                  </a:tcPr>
                </a:tc>
                <a:tc>
                  <a:txBody>
                    <a:bodyPr/>
                    <a:lstStyle/>
                    <a:p>
                      <a:pPr algn="l">
                        <a:spcBef>
                          <a:spcPts val="0"/>
                        </a:spcBef>
                        <a:spcAft>
                          <a:spcPts val="0"/>
                        </a:spcAft>
                      </a:pPr>
                      <a:r>
                        <a:rPr lang="en-IN" sz="1200" dirty="0" err="1">
                          <a:latin typeface="Times New Roman" panose="02020603050405020304" pitchFamily="18" charset="0"/>
                          <a:cs typeface="Times New Roman" panose="02020603050405020304" pitchFamily="18" charset="0"/>
                        </a:rPr>
                        <a:t>BalaAnand</a:t>
                      </a:r>
                      <a:r>
                        <a:rPr lang="en-IN" sz="1200" dirty="0">
                          <a:latin typeface="Times New Roman" panose="02020603050405020304" pitchFamily="18" charset="0"/>
                          <a:cs typeface="Times New Roman" panose="02020603050405020304" pitchFamily="18" charset="0"/>
                        </a:rPr>
                        <a:t> Muthu, Claudia Cherubini</a:t>
                      </a:r>
                    </a:p>
                    <a:p>
                      <a:pPr algn="l">
                        <a:spcBef>
                          <a:spcPts val="0"/>
                        </a:spcBef>
                        <a:spcAft>
                          <a:spcPts val="0"/>
                        </a:spcAft>
                      </a:pPr>
                      <a:r>
                        <a:rPr lang="en-IN" sz="1200" dirty="0">
                          <a:latin typeface="Times New Roman" panose="02020603050405020304" pitchFamily="18" charset="0"/>
                          <a:cs typeface="Times New Roman" panose="02020603050405020304" pitchFamily="18" charset="0"/>
                        </a:rPr>
                        <a:t>Neural Computing and Applications</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2026 (Springer)</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Transfer-learning-based deep CNNs trained and evaluated over an expanded 52-class multi-crop disease dataset.</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Multiclass Accuracy &gt; 97.2% across diverse crop species</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Broad disease scope (52 classes); high cross-species feature reusability.</a:t>
                      </a:r>
                    </a:p>
                  </a:txBody>
                  <a:tcPr marL="36000" marR="36000" marT="20000" marB="20000">
                    <a:solidFill>
                      <a:srgbClr val="F2F5F9"/>
                    </a:solidFill>
                  </a:tcPr>
                </a:tc>
                <a:tc>
                  <a:txBody>
                    <a:bodyPr/>
                    <a:lstStyle/>
                    <a:p>
                      <a:pPr algn="l">
                        <a:spcBef>
                          <a:spcPts val="0"/>
                        </a:spcBef>
                        <a:spcAft>
                          <a:spcPts val="0"/>
                        </a:spcAft>
                      </a:pPr>
                      <a:r>
                        <a:rPr lang="en-US" sz="1200" dirty="0">
                          <a:latin typeface="Times New Roman" panose="02020603050405020304" pitchFamily="18" charset="0"/>
                          <a:cs typeface="Times New Roman" panose="02020603050405020304" pitchFamily="18" charset="0"/>
                        </a:rPr>
                        <a:t>High parameter count; image-only; fails to monitor early abiotic stress conditions.</a:t>
                      </a:r>
                    </a:p>
                  </a:txBody>
                  <a:tcPr marL="36000" marR="36000" marT="20000" marB="20000">
                    <a:solidFill>
                      <a:srgbClr val="F2F5F9"/>
                    </a:solidFill>
                  </a:tcPr>
                </a:tc>
                <a:extLst>
                  <a:ext uri="{0D108BD9-81ED-4DB2-BD59-A6C34878D82A}">
                    <a16:rowId xmlns:a16="http://schemas.microsoft.com/office/drawing/2014/main" val="10005"/>
                  </a:ext>
                </a:extLst>
              </a:tr>
            </a:tbl>
          </a:graphicData>
        </a:graphic>
      </p:graphicFrame>
      <p:pic>
        <p:nvPicPr>
          <p:cNvPr id="5" name="Picture 4">
            <a:extLst>
              <a:ext uri="{FF2B5EF4-FFF2-40B4-BE49-F238E27FC236}">
                <a16:creationId xmlns:a16="http://schemas.microsoft.com/office/drawing/2014/main" id="{271B53F3-540A-8282-CDE9-91C7F1D75B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9226" y="140300"/>
            <a:ext cx="3135306" cy="563562"/>
          </a:xfrm>
          <a:prstGeom prst="rect">
            <a:avLst/>
          </a:prstGeom>
        </p:spPr>
      </p:pic>
    </p:spTree>
    <p:extLst>
      <p:ext uri="{BB962C8B-B14F-4D97-AF65-F5344CB8AC3E}">
        <p14:creationId xmlns:p14="http://schemas.microsoft.com/office/powerpoint/2010/main" val="952576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526A8-631D-1A07-252F-7A8D91C32E05}"/>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A14F7DAF-0F95-6643-8223-91471797B9B8}"/>
              </a:ext>
            </a:extLst>
          </p:cNvPr>
          <p:cNvGraphicFramePr>
            <a:graphicFrameLocks noGrp="1"/>
          </p:cNvGraphicFramePr>
          <p:nvPr>
            <p:extLst>
              <p:ext uri="{D42A27DB-BD31-4B8C-83A1-F6EECF244321}">
                <p14:modId xmlns:p14="http://schemas.microsoft.com/office/powerpoint/2010/main" val="2027802365"/>
              </p:ext>
            </p:extLst>
          </p:nvPr>
        </p:nvGraphicFramePr>
        <p:xfrm>
          <a:off x="429768" y="274638"/>
          <a:ext cx="11529832" cy="6335962"/>
        </p:xfrm>
        <a:graphic>
          <a:graphicData uri="http://schemas.openxmlformats.org/drawingml/2006/table">
            <a:tbl>
              <a:tblPr firstRow="1"/>
              <a:tblGrid>
                <a:gridCol w="660299">
                  <a:extLst>
                    <a:ext uri="{9D8B030D-6E8A-4147-A177-3AD203B41FA5}">
                      <a16:colId xmlns:a16="http://schemas.microsoft.com/office/drawing/2014/main" val="3328190395"/>
                    </a:ext>
                  </a:extLst>
                </a:gridCol>
                <a:gridCol w="2488818">
                  <a:extLst>
                    <a:ext uri="{9D8B030D-6E8A-4147-A177-3AD203B41FA5}">
                      <a16:colId xmlns:a16="http://schemas.microsoft.com/office/drawing/2014/main" val="2336810891"/>
                    </a:ext>
                  </a:extLst>
                </a:gridCol>
                <a:gridCol w="2488818">
                  <a:extLst>
                    <a:ext uri="{9D8B030D-6E8A-4147-A177-3AD203B41FA5}">
                      <a16:colId xmlns:a16="http://schemas.microsoft.com/office/drawing/2014/main" val="1098461023"/>
                    </a:ext>
                  </a:extLst>
                </a:gridCol>
                <a:gridCol w="1879312">
                  <a:extLst>
                    <a:ext uri="{9D8B030D-6E8A-4147-A177-3AD203B41FA5}">
                      <a16:colId xmlns:a16="http://schemas.microsoft.com/office/drawing/2014/main" val="2325057287"/>
                    </a:ext>
                  </a:extLst>
                </a:gridCol>
                <a:gridCol w="2082481">
                  <a:extLst>
                    <a:ext uri="{9D8B030D-6E8A-4147-A177-3AD203B41FA5}">
                      <a16:colId xmlns:a16="http://schemas.microsoft.com/office/drawing/2014/main" val="496264610"/>
                    </a:ext>
                  </a:extLst>
                </a:gridCol>
                <a:gridCol w="1930104">
                  <a:extLst>
                    <a:ext uri="{9D8B030D-6E8A-4147-A177-3AD203B41FA5}">
                      <a16:colId xmlns:a16="http://schemas.microsoft.com/office/drawing/2014/main" val="1779040063"/>
                    </a:ext>
                  </a:extLst>
                </a:gridCol>
              </a:tblGrid>
              <a:tr h="1288986">
                <a:tc>
                  <a:txBody>
                    <a:bodyPr/>
                    <a:lstStyle/>
                    <a:p>
                      <a:pPr algn="ctr">
                        <a:spcBef>
                          <a:spcPts val="0"/>
                        </a:spcBef>
                        <a:spcAft>
                          <a:spcPts val="0"/>
                        </a:spcAft>
                      </a:pPr>
                      <a:r>
                        <a:rPr lang="en-US" sz="1200" b="1" dirty="0">
                          <a:latin typeface="Times New Roman" panose="02020603050405020304" pitchFamily="18" charset="0"/>
                          <a:cs typeface="Times New Roman" panose="02020603050405020304" pitchFamily="18" charset="0"/>
                        </a:rPr>
                        <a:t>6</a:t>
                      </a:r>
                    </a:p>
                  </a:txBody>
                  <a:tcPr marL="36000" marR="36000" marT="20000" marB="20000">
                    <a:solidFill>
                      <a:srgbClr val="FFFFFF"/>
                    </a:solidFill>
                  </a:tcPr>
                </a:tc>
                <a:tc>
                  <a:txBody>
                    <a:bodyPr/>
                    <a:lstStyle/>
                    <a:p>
                      <a:pPr algn="l">
                        <a:spcBef>
                          <a:spcPts val="0"/>
                        </a:spcBef>
                        <a:spcAft>
                          <a:spcPts val="0"/>
                        </a:spcAft>
                      </a:pPr>
                      <a:r>
                        <a:rPr lang="en-IN" sz="1200" dirty="0" err="1">
                          <a:latin typeface="Times New Roman" panose="02020603050405020304" pitchFamily="18" charset="0"/>
                          <a:cs typeface="Times New Roman" panose="02020603050405020304" pitchFamily="18" charset="0"/>
                        </a:rPr>
                        <a:t>Sarowar</a:t>
                      </a:r>
                      <a:r>
                        <a:rPr lang="en-IN" sz="1200" dirty="0">
                          <a:latin typeface="Times New Roman" panose="02020603050405020304" pitchFamily="18" charset="0"/>
                          <a:cs typeface="Times New Roman" panose="02020603050405020304" pitchFamily="18" charset="0"/>
                        </a:rPr>
                        <a:t> Morshed Shawon, Fahima Lokman Niha, Osama </a:t>
                      </a:r>
                      <a:r>
                        <a:rPr lang="en-IN" sz="1200" dirty="0" err="1">
                          <a:latin typeface="Times New Roman" panose="02020603050405020304" pitchFamily="18" charset="0"/>
                          <a:cs typeface="Times New Roman" panose="02020603050405020304" pitchFamily="18" charset="0"/>
                        </a:rPr>
                        <a:t>Haramine</a:t>
                      </a:r>
                      <a:r>
                        <a:rPr lang="en-IN" sz="1200" dirty="0">
                          <a:latin typeface="Times New Roman" panose="02020603050405020304" pitchFamily="18" charset="0"/>
                          <a:cs typeface="Times New Roman" panose="02020603050405020304" pitchFamily="18" charset="0"/>
                        </a:rPr>
                        <a:t> Sinan, Md Junaed Abed, Marran Al Qwaid, Md Tanjil Sarker, H. T. Zubair</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Int. J. </a:t>
                      </a:r>
                      <a:r>
                        <a:rPr lang="en-US" sz="1200" dirty="0" err="1">
                          <a:latin typeface="Times New Roman" panose="02020603050405020304" pitchFamily="18" charset="0"/>
                          <a:cs typeface="Times New Roman" panose="02020603050405020304" pitchFamily="18" charset="0"/>
                        </a:rPr>
                        <a:t>Comput</a:t>
                      </a:r>
                      <a:r>
                        <a:rPr lang="en-US" sz="1200" dirty="0">
                          <a:latin typeface="Times New Roman" panose="02020603050405020304" pitchFamily="18" charset="0"/>
                          <a:cs typeface="Times New Roman" panose="02020603050405020304" pitchFamily="18" charset="0"/>
                        </a:rPr>
                        <a:t>. Intell.</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2026 (Springer)</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Systematic review of Federated Learning (FL) for decentralized training paired with Explainable AI (Grad-CAM, SHAP, LIME).</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Assesses privacy scores, communication latency, and explanation fidelity</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Decentralized learning preserves farm privacy; XAI heatmaps build farmer trust.</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High network communication overhead in rural areas; review study without a field prototype.</a:t>
                      </a:r>
                    </a:p>
                  </a:txBody>
                  <a:tcPr marL="36000" marR="36000" marT="20000" marB="20000">
                    <a:solidFill>
                      <a:srgbClr val="FFFFFF"/>
                    </a:solidFill>
                  </a:tcPr>
                </a:tc>
                <a:extLst>
                  <a:ext uri="{0D108BD9-81ED-4DB2-BD59-A6C34878D82A}">
                    <a16:rowId xmlns:a16="http://schemas.microsoft.com/office/drawing/2014/main" val="690517170"/>
                  </a:ext>
                </a:extLst>
              </a:tr>
              <a:tr h="1261744">
                <a:tc>
                  <a:txBody>
                    <a:bodyPr/>
                    <a:lstStyle/>
                    <a:p>
                      <a:pPr algn="ctr">
                        <a:spcBef>
                          <a:spcPts val="0"/>
                        </a:spcBef>
                        <a:spcAft>
                          <a:spcPts val="0"/>
                        </a:spcAft>
                      </a:pPr>
                      <a:r>
                        <a:rPr lang="en-US" sz="1200" b="1">
                          <a:latin typeface="Times New Roman" panose="02020603050405020304" pitchFamily="18" charset="0"/>
                          <a:cs typeface="Times New Roman" panose="02020603050405020304" pitchFamily="18" charset="0"/>
                        </a:rPr>
                        <a:t>7</a:t>
                      </a:r>
                    </a:p>
                  </a:txBody>
                  <a:tcPr marL="36000" marR="36000" marT="20000" marB="20000">
                    <a:solidFill>
                      <a:srgbClr val="F2F5F9"/>
                    </a:solidFill>
                  </a:tcPr>
                </a:tc>
                <a:tc>
                  <a:txBody>
                    <a:bodyPr/>
                    <a:lstStyle/>
                    <a:p>
                      <a:pPr algn="l">
                        <a:spcBef>
                          <a:spcPts val="0"/>
                        </a:spcBef>
                        <a:spcAft>
                          <a:spcPts val="0"/>
                        </a:spcAft>
                      </a:pPr>
                      <a:r>
                        <a:rPr lang="en-IN" sz="1200" dirty="0">
                          <a:latin typeface="Times New Roman" panose="02020603050405020304" pitchFamily="18" charset="0"/>
                          <a:cs typeface="Times New Roman" panose="02020603050405020304" pitchFamily="18" charset="0"/>
                        </a:rPr>
                        <a:t>Jabin Rahaman, Priyanti Paul, Aditta Chowdhury, Muhammad </a:t>
                      </a:r>
                      <a:r>
                        <a:rPr lang="en-IN" sz="1200" dirty="0" err="1">
                          <a:latin typeface="Times New Roman" panose="02020603050405020304" pitchFamily="18" charset="0"/>
                          <a:cs typeface="Times New Roman" panose="02020603050405020304" pitchFamily="18" charset="0"/>
                        </a:rPr>
                        <a:t>Quamruzzaman</a:t>
                      </a:r>
                      <a:endParaRPr lang="en-US" sz="1200" dirty="0">
                        <a:latin typeface="Times New Roman" panose="02020603050405020304" pitchFamily="18" charset="0"/>
                        <a:cs typeface="Times New Roman" panose="02020603050405020304" pitchFamily="18" charset="0"/>
                      </a:endParaRPr>
                    </a:p>
                    <a:p>
                      <a:pPr algn="l">
                        <a:spcBef>
                          <a:spcPts val="0"/>
                        </a:spcBef>
                        <a:spcAft>
                          <a:spcPts val="0"/>
                        </a:spcAft>
                      </a:pPr>
                      <a:r>
                        <a:rPr lang="en-US" sz="1200" dirty="0">
                          <a:latin typeface="Times New Roman" panose="02020603050405020304" pitchFamily="18" charset="0"/>
                          <a:cs typeface="Times New Roman" panose="02020603050405020304" pitchFamily="18" charset="0"/>
                        </a:rPr>
                        <a:t>Discover AI</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2026 (Springer)</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Customized MobileNetV3Large with transfer learning and augmentation on 26-class hybrid dataset (field-captured + public).</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Test Acc &gt; 96.1%</a:t>
                      </a:r>
                    </a:p>
                    <a:p>
                      <a:pPr algn="l">
                        <a:spcBef>
                          <a:spcPts val="0"/>
                        </a:spcBef>
                        <a:spcAft>
                          <a:spcPts val="0"/>
                        </a:spcAft>
                      </a:pPr>
                      <a:r>
                        <a:rPr lang="en-US" sz="1200">
                          <a:latin typeface="Times New Roman" panose="02020603050405020304" pitchFamily="18" charset="0"/>
                          <a:cs typeface="Times New Roman" panose="02020603050405020304" pitchFamily="18" charset="0"/>
                        </a:rPr>
                        <a:t>Latency: &lt;48ms on mobile devices</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Lightweight and portable; robust to variable field lighting, shadows, and blur.</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Image-only diagnosis; completely ignores soil moisture, nutrient, and temperature stress.</a:t>
                      </a:r>
                    </a:p>
                  </a:txBody>
                  <a:tcPr marL="36000" marR="36000" marT="20000" marB="20000">
                    <a:solidFill>
                      <a:srgbClr val="F2F5F9"/>
                    </a:solidFill>
                  </a:tcPr>
                </a:tc>
                <a:extLst>
                  <a:ext uri="{0D108BD9-81ED-4DB2-BD59-A6C34878D82A}">
                    <a16:rowId xmlns:a16="http://schemas.microsoft.com/office/drawing/2014/main" val="727627772"/>
                  </a:ext>
                </a:extLst>
              </a:tr>
              <a:tr h="1261744">
                <a:tc>
                  <a:txBody>
                    <a:bodyPr/>
                    <a:lstStyle/>
                    <a:p>
                      <a:pPr algn="ctr">
                        <a:spcBef>
                          <a:spcPts val="0"/>
                        </a:spcBef>
                        <a:spcAft>
                          <a:spcPts val="0"/>
                        </a:spcAft>
                      </a:pPr>
                      <a:r>
                        <a:rPr lang="en-US" sz="1200" b="1">
                          <a:latin typeface="Times New Roman" panose="02020603050405020304" pitchFamily="18" charset="0"/>
                          <a:cs typeface="Times New Roman" panose="02020603050405020304" pitchFamily="18" charset="0"/>
                        </a:rPr>
                        <a:t>8</a:t>
                      </a:r>
                    </a:p>
                  </a:txBody>
                  <a:tcPr marL="36000" marR="36000" marT="20000" marB="20000">
                    <a:solidFill>
                      <a:srgbClr val="FFFFFF"/>
                    </a:solidFill>
                  </a:tcPr>
                </a:tc>
                <a:tc>
                  <a:txBody>
                    <a:bodyPr/>
                    <a:lstStyle/>
                    <a:p>
                      <a:pPr algn="l">
                        <a:spcBef>
                          <a:spcPts val="0"/>
                        </a:spcBef>
                        <a:spcAft>
                          <a:spcPts val="0"/>
                        </a:spcAft>
                      </a:pPr>
                      <a:r>
                        <a:rPr lang="en-IN" sz="1200" dirty="0">
                          <a:latin typeface="Times New Roman" panose="02020603050405020304" pitchFamily="18" charset="0"/>
                          <a:cs typeface="Times New Roman" panose="02020603050405020304" pitchFamily="18" charset="0"/>
                        </a:rPr>
                        <a:t>Sivakumar S, C Bjorn Ferid, V Hemanath</a:t>
                      </a:r>
                      <a:endParaRPr lang="en-US" sz="1200" dirty="0">
                        <a:latin typeface="Times New Roman" panose="02020603050405020304" pitchFamily="18" charset="0"/>
                        <a:cs typeface="Times New Roman" panose="02020603050405020304" pitchFamily="18" charset="0"/>
                      </a:endParaRPr>
                    </a:p>
                    <a:p>
                      <a:pPr algn="l">
                        <a:spcBef>
                          <a:spcPts val="0"/>
                        </a:spcBef>
                        <a:spcAft>
                          <a:spcPts val="0"/>
                        </a:spcAft>
                      </a:pPr>
                      <a:r>
                        <a:rPr lang="en-US" sz="1200" dirty="0">
                          <a:latin typeface="Times New Roman" panose="02020603050405020304" pitchFamily="18" charset="0"/>
                          <a:cs typeface="Times New Roman" panose="02020603050405020304" pitchFamily="18" charset="0"/>
                        </a:rPr>
                        <a:t>IEEE ICSES Conf.</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2026</a:t>
                      </a:r>
                    </a:p>
                  </a:txBody>
                  <a:tcPr marL="36000" marR="36000" marT="20000" marB="20000">
                    <a:solidFill>
                      <a:srgbClr val="FFFFFF"/>
                    </a:solidFill>
                  </a:tcPr>
                </a:tc>
                <a:tc>
                  <a:txBody>
                    <a:bodyPr/>
                    <a:lstStyle/>
                    <a:p>
                      <a:pPr algn="l">
                        <a:spcBef>
                          <a:spcPts val="0"/>
                        </a:spcBef>
                        <a:spcAft>
                          <a:spcPts val="0"/>
                        </a:spcAft>
                      </a:pPr>
                      <a:r>
                        <a:rPr lang="en-US" sz="1200" dirty="0">
                          <a:latin typeface="Times New Roman" panose="02020603050405020304" pitchFamily="18" charset="0"/>
                          <a:cs typeface="Times New Roman" panose="02020603050405020304" pitchFamily="18" charset="0"/>
                        </a:rPr>
                        <a:t>IoT sensor array (soil moisture, DHT11 temp/humidity) + Random Forest crop recommendation + TensorFlow CNN disease monitor.</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High recommendation precision; reliable foliar leaf disease detection</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Practical integration of physical IoT hardware with ML software; dual functionality.</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Conference prototype; basic CNN without attention; no stress quantification or dosage.</a:t>
                      </a:r>
                    </a:p>
                  </a:txBody>
                  <a:tcPr marL="36000" marR="36000" marT="20000" marB="20000">
                    <a:solidFill>
                      <a:srgbClr val="FFFFFF"/>
                    </a:solidFill>
                  </a:tcPr>
                </a:tc>
                <a:extLst>
                  <a:ext uri="{0D108BD9-81ED-4DB2-BD59-A6C34878D82A}">
                    <a16:rowId xmlns:a16="http://schemas.microsoft.com/office/drawing/2014/main" val="2441740947"/>
                  </a:ext>
                </a:extLst>
              </a:tr>
              <a:tr h="1261744">
                <a:tc>
                  <a:txBody>
                    <a:bodyPr/>
                    <a:lstStyle/>
                    <a:p>
                      <a:pPr algn="ctr">
                        <a:spcBef>
                          <a:spcPts val="0"/>
                        </a:spcBef>
                        <a:spcAft>
                          <a:spcPts val="0"/>
                        </a:spcAft>
                      </a:pPr>
                      <a:r>
                        <a:rPr lang="en-US" sz="1200" b="1">
                          <a:latin typeface="Times New Roman" panose="02020603050405020304" pitchFamily="18" charset="0"/>
                          <a:cs typeface="Times New Roman" panose="02020603050405020304" pitchFamily="18" charset="0"/>
                        </a:rPr>
                        <a:t>9</a:t>
                      </a:r>
                    </a:p>
                  </a:txBody>
                  <a:tcPr marL="36000" marR="36000" marT="20000" marB="20000">
                    <a:solidFill>
                      <a:srgbClr val="F2F5F9"/>
                    </a:solidFill>
                  </a:tcPr>
                </a:tc>
                <a:tc>
                  <a:txBody>
                    <a:bodyPr/>
                    <a:lstStyle/>
                    <a:p>
                      <a:pPr algn="l">
                        <a:spcBef>
                          <a:spcPts val="0"/>
                        </a:spcBef>
                        <a:spcAft>
                          <a:spcPts val="0"/>
                        </a:spcAft>
                      </a:pPr>
                      <a:r>
                        <a:rPr lang="en-IN" sz="1200" dirty="0" err="1">
                          <a:latin typeface="Times New Roman" panose="02020603050405020304" pitchFamily="18" charset="0"/>
                          <a:cs typeface="Times New Roman" panose="02020603050405020304" pitchFamily="18" charset="0"/>
                        </a:rPr>
                        <a:t>Yusuph</a:t>
                      </a:r>
                      <a:r>
                        <a:rPr lang="en-IN" sz="1200" dirty="0">
                          <a:latin typeface="Times New Roman" panose="02020603050405020304" pitchFamily="18" charset="0"/>
                          <a:cs typeface="Times New Roman" panose="02020603050405020304" pitchFamily="18" charset="0"/>
                        </a:rPr>
                        <a:t> Emanueli </a:t>
                      </a:r>
                      <a:r>
                        <a:rPr lang="en-IN" sz="1200" dirty="0" err="1">
                          <a:latin typeface="Times New Roman" panose="02020603050405020304" pitchFamily="18" charset="0"/>
                          <a:cs typeface="Times New Roman" panose="02020603050405020304" pitchFamily="18" charset="0"/>
                        </a:rPr>
                        <a:t>Margwe</a:t>
                      </a:r>
                      <a:r>
                        <a:rPr lang="en-IN" sz="1200" dirty="0">
                          <a:latin typeface="Times New Roman" panose="02020603050405020304" pitchFamily="18" charset="0"/>
                          <a:cs typeface="Times New Roman" panose="02020603050405020304" pitchFamily="18" charset="0"/>
                        </a:rPr>
                        <a:t>, Naomi Dassi </a:t>
                      </a:r>
                      <a:r>
                        <a:rPr lang="en-IN" sz="1200" dirty="0" err="1">
                          <a:latin typeface="Times New Roman" panose="02020603050405020304" pitchFamily="18" charset="0"/>
                          <a:cs typeface="Times New Roman" panose="02020603050405020304" pitchFamily="18" charset="0"/>
                        </a:rPr>
                        <a:t>Tchomté</a:t>
                      </a:r>
                      <a:r>
                        <a:rPr lang="en-IN" sz="1200" dirty="0">
                          <a:latin typeface="Times New Roman" panose="02020603050405020304" pitchFamily="18" charset="0"/>
                          <a:cs typeface="Times New Roman" panose="02020603050405020304" pitchFamily="18" charset="0"/>
                        </a:rPr>
                        <a:t>, Franklin </a:t>
                      </a:r>
                      <a:r>
                        <a:rPr lang="en-IN" sz="1200" dirty="0" err="1">
                          <a:latin typeface="Times New Roman" panose="02020603050405020304" pitchFamily="18" charset="0"/>
                          <a:cs typeface="Times New Roman" panose="02020603050405020304" pitchFamily="18" charset="0"/>
                        </a:rPr>
                        <a:t>Tchakounté</a:t>
                      </a:r>
                      <a:r>
                        <a:rPr lang="en-IN" sz="1200" dirty="0">
                          <a:latin typeface="Times New Roman" panose="02020603050405020304" pitchFamily="18" charset="0"/>
                          <a:cs typeface="Times New Roman" panose="02020603050405020304" pitchFamily="18" charset="0"/>
                        </a:rPr>
                        <a:t>, Adeyemi </a:t>
                      </a:r>
                      <a:r>
                        <a:rPr lang="en-IN" sz="1200" dirty="0" err="1">
                          <a:latin typeface="Times New Roman" panose="02020603050405020304" pitchFamily="18" charset="0"/>
                          <a:cs typeface="Times New Roman" panose="02020603050405020304" pitchFamily="18" charset="0"/>
                        </a:rPr>
                        <a:t>Ajibesin</a:t>
                      </a:r>
                      <a:r>
                        <a:rPr lang="en-IN" sz="1200" dirty="0">
                          <a:latin typeface="Times New Roman" panose="02020603050405020304" pitchFamily="18" charset="0"/>
                          <a:cs typeface="Times New Roman" panose="02020603050405020304" pitchFamily="18" charset="0"/>
                        </a:rPr>
                        <a:t>, Claude </a:t>
                      </a:r>
                      <a:r>
                        <a:rPr lang="en-IN" sz="1200" dirty="0" err="1">
                          <a:latin typeface="Times New Roman" panose="02020603050405020304" pitchFamily="18" charset="0"/>
                          <a:cs typeface="Times New Roman" panose="02020603050405020304" pitchFamily="18" charset="0"/>
                        </a:rPr>
                        <a:t>Fachkha</a:t>
                      </a:r>
                      <a:endParaRPr lang="en-IN" sz="1200" dirty="0">
                        <a:latin typeface="Times New Roman" panose="02020603050405020304" pitchFamily="18" charset="0"/>
                        <a:cs typeface="Times New Roman" panose="02020603050405020304" pitchFamily="18" charset="0"/>
                      </a:endParaRPr>
                    </a:p>
                    <a:p>
                      <a:pPr algn="l">
                        <a:spcBef>
                          <a:spcPts val="0"/>
                        </a:spcBef>
                        <a:spcAft>
                          <a:spcPts val="0"/>
                        </a:spcAft>
                      </a:pPr>
                      <a:r>
                        <a:rPr lang="en-US" sz="1200" dirty="0">
                          <a:latin typeface="Times New Roman" panose="02020603050405020304" pitchFamily="18" charset="0"/>
                          <a:cs typeface="Times New Roman" panose="02020603050405020304" pitchFamily="18" charset="0"/>
                        </a:rPr>
                        <a:t>Discover AI</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2026 (Springer)</a:t>
                      </a:r>
                    </a:p>
                  </a:txBody>
                  <a:tcPr marL="36000" marR="36000" marT="20000" marB="20000">
                    <a:solidFill>
                      <a:srgbClr val="F2F5F9"/>
                    </a:solidFill>
                  </a:tcPr>
                </a:tc>
                <a:tc>
                  <a:txBody>
                    <a:bodyPr/>
                    <a:lstStyle/>
                    <a:p>
                      <a:pPr algn="l">
                        <a:spcBef>
                          <a:spcPts val="0"/>
                        </a:spcBef>
                        <a:spcAft>
                          <a:spcPts val="0"/>
                        </a:spcAft>
                      </a:pPr>
                      <a:r>
                        <a:rPr lang="en-US" sz="1200" dirty="0">
                          <a:latin typeface="Times New Roman" panose="02020603050405020304" pitchFamily="18" charset="0"/>
                          <a:cs typeface="Times New Roman" panose="02020603050405020304" pitchFamily="18" charset="0"/>
                        </a:rPr>
                        <a:t>Case-Based Reasoning (CBR) coupled with image processing to identify maize crop diseases and retrieve treatment regimens.</a:t>
                      </a:r>
                    </a:p>
                  </a:txBody>
                  <a:tcPr marL="36000" marR="36000" marT="20000" marB="20000">
                    <a:solidFill>
                      <a:srgbClr val="F2F5F9"/>
                    </a:solidFill>
                  </a:tcPr>
                </a:tc>
                <a:tc>
                  <a:txBody>
                    <a:bodyPr/>
                    <a:lstStyle/>
                    <a:p>
                      <a:pPr algn="l">
                        <a:spcBef>
                          <a:spcPts val="0"/>
                        </a:spcBef>
                        <a:spcAft>
                          <a:spcPts val="0"/>
                        </a:spcAft>
                      </a:pPr>
                      <a:r>
                        <a:rPr lang="en-US" sz="1200" dirty="0">
                          <a:latin typeface="Times New Roman" panose="02020603050405020304" pitchFamily="18" charset="0"/>
                          <a:cs typeface="Times New Roman" panose="02020603050405020304" pitchFamily="18" charset="0"/>
                        </a:rPr>
                        <a:t>High precision in case matching and treatment prescription retrieval</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Directly addresses the "Management" gap with actionable, verified treatment prescriptions.</a:t>
                      </a:r>
                    </a:p>
                  </a:txBody>
                  <a:tcPr marL="36000" marR="36000" marT="20000" marB="20000">
                    <a:solidFill>
                      <a:srgbClr val="F2F5F9"/>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Restricted to a single crop (maize); requires continuous expert case curation; no IoT sensors.</a:t>
                      </a:r>
                    </a:p>
                  </a:txBody>
                  <a:tcPr marL="36000" marR="36000" marT="20000" marB="20000">
                    <a:solidFill>
                      <a:srgbClr val="F2F5F9"/>
                    </a:solidFill>
                  </a:tcPr>
                </a:tc>
                <a:extLst>
                  <a:ext uri="{0D108BD9-81ED-4DB2-BD59-A6C34878D82A}">
                    <a16:rowId xmlns:a16="http://schemas.microsoft.com/office/drawing/2014/main" val="2770596093"/>
                  </a:ext>
                </a:extLst>
              </a:tr>
              <a:tr h="1261744">
                <a:tc>
                  <a:txBody>
                    <a:bodyPr/>
                    <a:lstStyle/>
                    <a:p>
                      <a:pPr algn="ctr">
                        <a:spcBef>
                          <a:spcPts val="0"/>
                        </a:spcBef>
                        <a:spcAft>
                          <a:spcPts val="0"/>
                        </a:spcAft>
                      </a:pPr>
                      <a:r>
                        <a:rPr lang="en-US" sz="1200" b="1">
                          <a:latin typeface="Times New Roman" panose="02020603050405020304" pitchFamily="18" charset="0"/>
                          <a:cs typeface="Times New Roman" panose="02020603050405020304" pitchFamily="18" charset="0"/>
                        </a:rPr>
                        <a:t>10</a:t>
                      </a:r>
                    </a:p>
                  </a:txBody>
                  <a:tcPr marL="36000" marR="36000" marT="20000" marB="20000">
                    <a:solidFill>
                      <a:srgbClr val="FFFFFF"/>
                    </a:solidFill>
                  </a:tcPr>
                </a:tc>
                <a:tc>
                  <a:txBody>
                    <a:bodyPr/>
                    <a:lstStyle/>
                    <a:p>
                      <a:pPr algn="l">
                        <a:spcBef>
                          <a:spcPts val="0"/>
                        </a:spcBef>
                        <a:spcAft>
                          <a:spcPts val="0"/>
                        </a:spcAft>
                      </a:pPr>
                      <a:r>
                        <a:rPr lang="en-IN" sz="1200" dirty="0">
                          <a:latin typeface="Times New Roman" panose="02020603050405020304" pitchFamily="18" charset="0"/>
                          <a:cs typeface="Times New Roman" panose="02020603050405020304" pitchFamily="18" charset="0"/>
                        </a:rPr>
                        <a:t>Sharada P. Mohanty, David P. Hughes, Marcel </a:t>
                      </a:r>
                      <a:r>
                        <a:rPr lang="en-IN" sz="1200" dirty="0" err="1">
                          <a:latin typeface="Times New Roman" panose="02020603050405020304" pitchFamily="18" charset="0"/>
                          <a:cs typeface="Times New Roman" panose="02020603050405020304" pitchFamily="18" charset="0"/>
                        </a:rPr>
                        <a:t>Salathé</a:t>
                      </a:r>
                      <a:endParaRPr lang="en-IN" sz="1200" dirty="0">
                        <a:latin typeface="Times New Roman" panose="02020603050405020304" pitchFamily="18" charset="0"/>
                        <a:cs typeface="Times New Roman" panose="02020603050405020304" pitchFamily="18" charset="0"/>
                      </a:endParaRPr>
                    </a:p>
                    <a:p>
                      <a:pPr algn="l">
                        <a:spcBef>
                          <a:spcPts val="0"/>
                        </a:spcBef>
                        <a:spcAft>
                          <a:spcPts val="0"/>
                        </a:spcAft>
                      </a:pPr>
                      <a:r>
                        <a:rPr lang="en-US" sz="1200" dirty="0" err="1">
                          <a:latin typeface="Times New Roman" panose="02020603050405020304" pitchFamily="18" charset="0"/>
                          <a:cs typeface="Times New Roman" panose="02020603050405020304" pitchFamily="18" charset="0"/>
                        </a:rPr>
                        <a:t>PlantVillage</a:t>
                      </a:r>
                      <a:r>
                        <a:rPr lang="en-US" sz="1200" dirty="0">
                          <a:latin typeface="Times New Roman" panose="02020603050405020304" pitchFamily="18" charset="0"/>
                          <a:cs typeface="Times New Roman" panose="02020603050405020304" pitchFamily="18" charset="0"/>
                        </a:rPr>
                        <a:t> Benchmark</a:t>
                      </a:r>
                    </a:p>
                    <a:p>
                      <a:pPr algn="l">
                        <a:spcBef>
                          <a:spcPts val="0"/>
                        </a:spcBef>
                        <a:spcAft>
                          <a:spcPts val="0"/>
                        </a:spcAft>
                      </a:pPr>
                      <a:r>
                        <a:rPr lang="en-US" sz="1200" dirty="0">
                          <a:latin typeface="Times New Roman" panose="02020603050405020304" pitchFamily="18" charset="0"/>
                          <a:cs typeface="Times New Roman" panose="02020603050405020304" pitchFamily="18" charset="0"/>
                        </a:rPr>
                        <a:t>2015 (</a:t>
                      </a:r>
                      <a:r>
                        <a:rPr lang="en-US" sz="1200" dirty="0" err="1">
                          <a:latin typeface="Times New Roman" panose="02020603050405020304" pitchFamily="18" charset="0"/>
                          <a:cs typeface="Times New Roman" panose="02020603050405020304" pitchFamily="18" charset="0"/>
                        </a:rPr>
                        <a:t>arXiv</a:t>
                      </a:r>
                      <a:r>
                        <a:rPr lang="en-US" sz="1200" dirty="0">
                          <a:latin typeface="Times New Roman" panose="02020603050405020304" pitchFamily="18" charset="0"/>
                          <a:cs typeface="Times New Roman" panose="02020603050405020304" pitchFamily="18" charset="0"/>
                        </a:rPr>
                        <a:t>)</a:t>
                      </a:r>
                    </a:p>
                  </a:txBody>
                  <a:tcPr marL="36000" marR="36000" marT="20000" marB="20000">
                    <a:solidFill>
                      <a:srgbClr val="FFFFFF"/>
                    </a:solidFill>
                  </a:tcPr>
                </a:tc>
                <a:tc>
                  <a:txBody>
                    <a:bodyPr/>
                    <a:lstStyle/>
                    <a:p>
                      <a:pPr algn="l">
                        <a:spcBef>
                          <a:spcPts val="0"/>
                        </a:spcBef>
                        <a:spcAft>
                          <a:spcPts val="0"/>
                        </a:spcAft>
                      </a:pPr>
                      <a:r>
                        <a:rPr lang="en-US" sz="1200">
                          <a:latin typeface="Times New Roman" panose="02020603050405020304" pitchFamily="18" charset="0"/>
                          <a:cs typeface="Times New Roman" panose="02020603050405020304" pitchFamily="18" charset="0"/>
                        </a:rPr>
                        <a:t>Foundational open-access benchmark repository comprising 54,306 curated leaf images across 14 crops and 38 diseases.</a:t>
                      </a:r>
                    </a:p>
                  </a:txBody>
                  <a:tcPr marL="36000" marR="36000" marT="20000" marB="20000">
                    <a:solidFill>
                      <a:srgbClr val="FFFFFF"/>
                    </a:solidFill>
                  </a:tcPr>
                </a:tc>
                <a:tc>
                  <a:txBody>
                    <a:bodyPr/>
                    <a:lstStyle/>
                    <a:p>
                      <a:pPr algn="l">
                        <a:spcBef>
                          <a:spcPts val="0"/>
                        </a:spcBef>
                        <a:spcAft>
                          <a:spcPts val="0"/>
                        </a:spcAft>
                      </a:pPr>
                      <a:r>
                        <a:rPr lang="en-US" sz="1200" dirty="0">
                          <a:latin typeface="Times New Roman" panose="02020603050405020304" pitchFamily="18" charset="0"/>
                          <a:cs typeface="Times New Roman" panose="02020603050405020304" pitchFamily="18" charset="0"/>
                        </a:rPr>
                        <a:t>Baseline accuracy standards established across worldwide DL plant research</a:t>
                      </a:r>
                    </a:p>
                  </a:txBody>
                  <a:tcPr marL="36000" marR="36000" marT="20000" marB="20000">
                    <a:solidFill>
                      <a:srgbClr val="FFFFFF"/>
                    </a:solidFill>
                  </a:tcPr>
                </a:tc>
                <a:tc>
                  <a:txBody>
                    <a:bodyPr/>
                    <a:lstStyle/>
                    <a:p>
                      <a:pPr algn="l">
                        <a:spcBef>
                          <a:spcPts val="0"/>
                        </a:spcBef>
                        <a:spcAft>
                          <a:spcPts val="0"/>
                        </a:spcAft>
                      </a:pPr>
                      <a:r>
                        <a:rPr lang="en-US" sz="1200" dirty="0">
                          <a:latin typeface="Times New Roman" panose="02020603050405020304" pitchFamily="18" charset="0"/>
                          <a:cs typeface="Times New Roman" panose="02020603050405020304" pitchFamily="18" charset="0"/>
                        </a:rPr>
                        <a:t>Gold-standard open research dataset; enabled modern multi-class crop disease AI.</a:t>
                      </a:r>
                    </a:p>
                  </a:txBody>
                  <a:tcPr marL="36000" marR="36000" marT="20000" marB="20000">
                    <a:solidFill>
                      <a:srgbClr val="FFFFFF"/>
                    </a:solidFill>
                  </a:tcPr>
                </a:tc>
                <a:tc>
                  <a:txBody>
                    <a:bodyPr/>
                    <a:lstStyle/>
                    <a:p>
                      <a:pPr algn="l">
                        <a:spcBef>
                          <a:spcPts val="0"/>
                        </a:spcBef>
                        <a:spcAft>
                          <a:spcPts val="0"/>
                        </a:spcAft>
                      </a:pPr>
                      <a:r>
                        <a:rPr lang="en-US" sz="1200" dirty="0">
                          <a:latin typeface="Times New Roman" panose="02020603050405020304" pitchFamily="18" charset="0"/>
                          <a:cs typeface="Times New Roman" panose="02020603050405020304" pitchFamily="18" charset="0"/>
                        </a:rPr>
                        <a:t>Controlled laboratory conditions with plain backgrounds; poor real-field generalization.</a:t>
                      </a:r>
                    </a:p>
                  </a:txBody>
                  <a:tcPr marL="36000" marR="36000" marT="20000" marB="20000">
                    <a:solidFill>
                      <a:srgbClr val="FFFFFF"/>
                    </a:solidFill>
                  </a:tcPr>
                </a:tc>
                <a:extLst>
                  <a:ext uri="{0D108BD9-81ED-4DB2-BD59-A6C34878D82A}">
                    <a16:rowId xmlns:a16="http://schemas.microsoft.com/office/drawing/2014/main" val="3087104770"/>
                  </a:ext>
                </a:extLst>
              </a:tr>
            </a:tbl>
          </a:graphicData>
        </a:graphic>
      </p:graphicFrame>
    </p:spTree>
    <p:extLst>
      <p:ext uri="{BB962C8B-B14F-4D97-AF65-F5344CB8AC3E}">
        <p14:creationId xmlns:p14="http://schemas.microsoft.com/office/powerpoint/2010/main" val="42626487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A0046-BF80-C7AC-4092-5F6B766C4B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006D7-2A1D-A4B2-63D6-92A249697848}"/>
              </a:ext>
            </a:extLst>
          </p:cNvPr>
          <p:cNvSpPr>
            <a:spLocks noGrp="1"/>
          </p:cNvSpPr>
          <p:nvPr>
            <p:ph idx="1"/>
          </p:nvPr>
        </p:nvSpPr>
        <p:spPr>
          <a:xfrm>
            <a:off x="609600" y="1159263"/>
            <a:ext cx="11173961" cy="5400599"/>
          </a:xfrm>
        </p:spPr>
        <p:txBody>
          <a:bodyPr vert="horz" lIns="91440" tIns="45720" rIns="91440" bIns="45720" rtlCol="0" anchor="t">
            <a:noAutofit/>
          </a:bodyPr>
          <a:lstStyle/>
          <a:p>
            <a:r>
              <a:rPr lang="en-IN" sz="1800" dirty="0">
                <a:latin typeface="Times New Roman" panose="02020603050405020304" pitchFamily="18" charset="0"/>
                <a:cs typeface="Times New Roman" panose="02020603050405020304" pitchFamily="18" charset="0"/>
              </a:rPr>
              <a:t>Deep learning provides high accuracy for automated crop disease detection</a:t>
            </a:r>
          </a:p>
          <a:p>
            <a:r>
              <a:rPr lang="en-IN" sz="1800" dirty="0">
                <a:latin typeface="Times New Roman" panose="02020603050405020304" pitchFamily="18" charset="0"/>
                <a:cs typeface="Times New Roman" panose="02020603050405020304" pitchFamily="18" charset="0"/>
              </a:rPr>
              <a:t>CNN-based models are effective for extracting disease-related features from leaf images</a:t>
            </a:r>
          </a:p>
          <a:p>
            <a:r>
              <a:rPr lang="en-IN" sz="1800" dirty="0">
                <a:latin typeface="Times New Roman" panose="02020603050405020304" pitchFamily="18" charset="0"/>
                <a:cs typeface="Times New Roman" panose="02020603050405020304" pitchFamily="18" charset="0"/>
              </a:rPr>
              <a:t>Lightweight models such as </a:t>
            </a:r>
            <a:r>
              <a:rPr lang="en-IN" sz="1800" dirty="0" err="1">
                <a:latin typeface="Times New Roman" panose="02020603050405020304" pitchFamily="18" charset="0"/>
                <a:cs typeface="Times New Roman" panose="02020603050405020304" pitchFamily="18" charset="0"/>
              </a:rPr>
              <a:t>EfficientNet</a:t>
            </a:r>
            <a:r>
              <a:rPr lang="en-IN" sz="1800" dirty="0">
                <a:latin typeface="Times New Roman" panose="02020603050405020304" pitchFamily="18" charset="0"/>
                <a:cs typeface="Times New Roman" panose="02020603050405020304" pitchFamily="18" charset="0"/>
              </a:rPr>
              <a:t> and </a:t>
            </a:r>
            <a:r>
              <a:rPr lang="en-IN" sz="1800" dirty="0" err="1">
                <a:latin typeface="Times New Roman" panose="02020603050405020304" pitchFamily="18" charset="0"/>
                <a:cs typeface="Times New Roman" panose="02020603050405020304" pitchFamily="18" charset="0"/>
              </a:rPr>
              <a:t>MobileNet</a:t>
            </a:r>
            <a:r>
              <a:rPr lang="en-IN" sz="1800" dirty="0">
                <a:latin typeface="Times New Roman" panose="02020603050405020304" pitchFamily="18" charset="0"/>
                <a:cs typeface="Times New Roman" panose="02020603050405020304" pitchFamily="18" charset="0"/>
              </a:rPr>
              <a:t> are suitable for resource-constrained and edge applications</a:t>
            </a:r>
          </a:p>
          <a:p>
            <a:r>
              <a:rPr lang="en-IN" sz="1800" dirty="0">
                <a:latin typeface="Times New Roman" panose="02020603050405020304" pitchFamily="18" charset="0"/>
                <a:cs typeface="Times New Roman" panose="02020603050405020304" pitchFamily="18" charset="0"/>
              </a:rPr>
              <a:t>Transfer learning helps improve disease classification across multiple crops and disease categories</a:t>
            </a:r>
          </a:p>
          <a:p>
            <a:r>
              <a:rPr lang="en-IN" sz="1800" dirty="0">
                <a:latin typeface="Times New Roman" panose="02020603050405020304" pitchFamily="18" charset="0"/>
                <a:cs typeface="Times New Roman" panose="02020603050405020304" pitchFamily="18" charset="0"/>
              </a:rPr>
              <a:t>Attention mechanisms such as CBAM help the model focus on important disease regions</a:t>
            </a:r>
          </a:p>
          <a:p>
            <a:r>
              <a:rPr lang="en-IN" sz="1800" dirty="0">
                <a:latin typeface="Times New Roman" panose="02020603050405020304" pitchFamily="18" charset="0"/>
                <a:cs typeface="Times New Roman" panose="02020603050405020304" pitchFamily="18" charset="0"/>
              </a:rPr>
              <a:t>IoT sensors can provide continuous information about soil and environmental conditions</a:t>
            </a:r>
          </a:p>
          <a:p>
            <a:r>
              <a:rPr lang="en-IN" sz="1800" dirty="0">
                <a:latin typeface="Times New Roman" panose="02020603050405020304" pitchFamily="18" charset="0"/>
                <a:cs typeface="Times New Roman" panose="02020603050405020304" pitchFamily="18" charset="0"/>
              </a:rPr>
              <a:t>Combining image-based AI and IoT data provides broader crop health monitoring</a:t>
            </a:r>
          </a:p>
          <a:p>
            <a:r>
              <a:rPr lang="en-IN" sz="1800" dirty="0">
                <a:latin typeface="Times New Roman" panose="02020603050405020304" pitchFamily="18" charset="0"/>
                <a:cs typeface="Times New Roman" panose="02020603050405020304" pitchFamily="18" charset="0"/>
              </a:rPr>
              <a:t>Real-world field conditions such as lighting, background, and environmental variations can affect model performance</a:t>
            </a:r>
          </a:p>
          <a:p>
            <a:r>
              <a:rPr lang="en-IN" sz="1800" dirty="0">
                <a:latin typeface="Times New Roman" panose="02020603050405020304" pitchFamily="18" charset="0"/>
                <a:cs typeface="Times New Roman" panose="02020603050405020304" pitchFamily="18" charset="0"/>
              </a:rPr>
              <a:t>Explainable AI methods such as Grad-CAM can improve the interpretability of disease predictions</a:t>
            </a:r>
          </a:p>
          <a:p>
            <a:r>
              <a:rPr lang="en-IN" sz="1800" dirty="0">
                <a:latin typeface="Times New Roman" panose="02020603050405020304" pitchFamily="18" charset="0"/>
                <a:cs typeface="Times New Roman" panose="02020603050405020304" pitchFamily="18" charset="0"/>
              </a:rPr>
              <a:t>Existing research shows a need for integrated systems that combine disease detection, stress monitoring, and treatment guidance</a:t>
            </a:r>
          </a:p>
        </p:txBody>
      </p:sp>
      <p:sp>
        <p:nvSpPr>
          <p:cNvPr id="3" name="Title 2">
            <a:extLst>
              <a:ext uri="{FF2B5EF4-FFF2-40B4-BE49-F238E27FC236}">
                <a16:creationId xmlns:a16="http://schemas.microsoft.com/office/drawing/2014/main" id="{39A6E23D-A5D8-BE38-914C-4697198F055E}"/>
              </a:ext>
            </a:extLst>
          </p:cNvPr>
          <p:cNvSpPr>
            <a:spLocks noGrp="1"/>
          </p:cNvSpPr>
          <p:nvPr>
            <p:ph type="title"/>
          </p:nvPr>
        </p:nvSpPr>
        <p:spPr>
          <a:xfrm>
            <a:off x="609600" y="228600"/>
            <a:ext cx="7440118"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Observations from the Literature Review</a:t>
            </a:r>
          </a:p>
        </p:txBody>
      </p:sp>
      <p:pic>
        <p:nvPicPr>
          <p:cNvPr id="5" name="Picture 4">
            <a:extLst>
              <a:ext uri="{FF2B5EF4-FFF2-40B4-BE49-F238E27FC236}">
                <a16:creationId xmlns:a16="http://schemas.microsoft.com/office/drawing/2014/main" id="{47D2E993-E474-0C27-DF8A-10B6A433EC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3999" y="228601"/>
            <a:ext cx="2639561" cy="563562"/>
          </a:xfrm>
          <a:prstGeom prst="rect">
            <a:avLst/>
          </a:prstGeom>
        </p:spPr>
      </p:pic>
    </p:spTree>
    <p:extLst>
      <p:ext uri="{BB962C8B-B14F-4D97-AF65-F5344CB8AC3E}">
        <p14:creationId xmlns:p14="http://schemas.microsoft.com/office/powerpoint/2010/main" val="2694801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28F11-9544-18C8-69F6-B6B1393AAE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EF3ED1-1B2C-DD44-A421-B9D1C2BCEA8F}"/>
              </a:ext>
            </a:extLst>
          </p:cNvPr>
          <p:cNvSpPr>
            <a:spLocks noGrp="1"/>
          </p:cNvSpPr>
          <p:nvPr>
            <p:ph idx="1"/>
          </p:nvPr>
        </p:nvSpPr>
        <p:spPr>
          <a:xfrm>
            <a:off x="609600" y="1118997"/>
            <a:ext cx="11171583" cy="5400599"/>
          </a:xfrm>
        </p:spPr>
        <p:txBody>
          <a:bodyPr vert="horz" lIns="91440" tIns="45720" rIns="91440" bIns="45720" rtlCol="0" anchor="t">
            <a:normAutofit/>
          </a:bodyPr>
          <a:lstStyle/>
          <a:p>
            <a:r>
              <a:rPr lang="en-IN" sz="1800" dirty="0">
                <a:latin typeface="Times New Roman" panose="02020603050405020304" pitchFamily="18" charset="0"/>
                <a:cs typeface="Times New Roman" panose="02020603050405020304" pitchFamily="18" charset="0"/>
              </a:rPr>
              <a:t>Most existing systems focus mainly on image-based disease detection and do not monitor environmental stress</a:t>
            </a:r>
          </a:p>
          <a:p>
            <a:r>
              <a:rPr lang="en-IN" sz="1800" dirty="0">
                <a:latin typeface="Times New Roman" panose="02020603050405020304" pitchFamily="18" charset="0"/>
                <a:cs typeface="Times New Roman" panose="02020603050405020304" pitchFamily="18" charset="0"/>
              </a:rPr>
              <a:t>Many studies do not combine disease detection with IoT-based environmental monitoring</a:t>
            </a:r>
          </a:p>
          <a:p>
            <a:r>
              <a:rPr lang="en-IN" sz="1800" dirty="0">
                <a:latin typeface="Times New Roman" panose="02020603050405020304" pitchFamily="18" charset="0"/>
                <a:cs typeface="Times New Roman" panose="02020603050405020304" pitchFamily="18" charset="0"/>
              </a:rPr>
              <a:t>Existing systems often lack multimodal integration between leaf images and sensor data</a:t>
            </a:r>
          </a:p>
          <a:p>
            <a:r>
              <a:rPr lang="en-IN" sz="1800" dirty="0">
                <a:latin typeface="Times New Roman" panose="02020603050405020304" pitchFamily="18" charset="0"/>
                <a:cs typeface="Times New Roman" panose="02020603050405020304" pitchFamily="18" charset="0"/>
              </a:rPr>
              <a:t>Models trained on laboratory datasets may have limited performance in real field conditions</a:t>
            </a:r>
          </a:p>
          <a:p>
            <a:r>
              <a:rPr lang="en-IN" sz="1800" dirty="0">
                <a:latin typeface="Times New Roman" panose="02020603050405020304" pitchFamily="18" charset="0"/>
                <a:cs typeface="Times New Roman" panose="02020603050405020304" pitchFamily="18" charset="0"/>
              </a:rPr>
              <a:t>Changes in lighting, shadows, backgrounds, and image quality can affect detection accuracy</a:t>
            </a:r>
          </a:p>
          <a:p>
            <a:r>
              <a:rPr lang="en-IN" sz="1800" dirty="0">
                <a:latin typeface="Times New Roman" panose="02020603050405020304" pitchFamily="18" charset="0"/>
                <a:cs typeface="Times New Roman" panose="02020603050405020304" pitchFamily="18" charset="0"/>
              </a:rPr>
              <a:t>Several studies are limited to specific crops or a restricted number of disease categories</a:t>
            </a:r>
          </a:p>
          <a:p>
            <a:r>
              <a:rPr lang="en-IN" sz="1800" dirty="0">
                <a:latin typeface="Times New Roman" panose="02020603050405020304" pitchFamily="18" charset="0"/>
                <a:cs typeface="Times New Roman" panose="02020603050405020304" pitchFamily="18" charset="0"/>
              </a:rPr>
              <a:t>Lightweight models may have limitations in accuracy or disease classification capability</a:t>
            </a:r>
          </a:p>
          <a:p>
            <a:r>
              <a:rPr lang="en-IN" sz="1800" dirty="0">
                <a:latin typeface="Times New Roman" panose="02020603050405020304" pitchFamily="18" charset="0"/>
                <a:cs typeface="Times New Roman" panose="02020603050405020304" pitchFamily="18" charset="0"/>
              </a:rPr>
              <a:t>Many systems provide disease identification but lack practical treatment and management recommendations</a:t>
            </a:r>
          </a:p>
          <a:p>
            <a:r>
              <a:rPr lang="en-IN" sz="1800" dirty="0">
                <a:latin typeface="Times New Roman" panose="02020603050405020304" pitchFamily="18" charset="0"/>
                <a:cs typeface="Times New Roman" panose="02020603050405020304" pitchFamily="18" charset="0"/>
              </a:rPr>
              <a:t>Some IoT-based systems use manual sensor data entry instead of continuous automated monitoring</a:t>
            </a:r>
          </a:p>
          <a:p>
            <a:r>
              <a:rPr lang="en-IN" sz="1800" dirty="0">
                <a:latin typeface="Times New Roman" panose="02020603050405020304" pitchFamily="18" charset="0"/>
                <a:cs typeface="Times New Roman" panose="02020603050405020304" pitchFamily="18" charset="0"/>
              </a:rPr>
              <a:t>Several approaches lack explainable AI and visual reasoning to show why a particular disease was predicted</a:t>
            </a:r>
          </a:p>
        </p:txBody>
      </p:sp>
      <p:sp>
        <p:nvSpPr>
          <p:cNvPr id="3" name="Title 2">
            <a:extLst>
              <a:ext uri="{FF2B5EF4-FFF2-40B4-BE49-F238E27FC236}">
                <a16:creationId xmlns:a16="http://schemas.microsoft.com/office/drawing/2014/main" id="{BBD3710E-1FD6-A145-E602-76470D00842A}"/>
              </a:ext>
            </a:extLst>
          </p:cNvPr>
          <p:cNvSpPr>
            <a:spLocks noGrp="1"/>
          </p:cNvSpPr>
          <p:nvPr>
            <p:ph type="title"/>
          </p:nvPr>
        </p:nvSpPr>
        <p:spPr>
          <a:xfrm>
            <a:off x="609600" y="228600"/>
            <a:ext cx="7140315"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Limitations from the Literature Review</a:t>
            </a:r>
          </a:p>
        </p:txBody>
      </p:sp>
      <p:pic>
        <p:nvPicPr>
          <p:cNvPr id="5" name="Picture 4">
            <a:extLst>
              <a:ext uri="{FF2B5EF4-FFF2-40B4-BE49-F238E27FC236}">
                <a16:creationId xmlns:a16="http://schemas.microsoft.com/office/drawing/2014/main" id="{24488C9D-2D30-3125-69F0-8049573055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9226" y="300192"/>
            <a:ext cx="2783174" cy="491970"/>
          </a:xfrm>
          <a:prstGeom prst="rect">
            <a:avLst/>
          </a:prstGeom>
        </p:spPr>
      </p:pic>
    </p:spTree>
    <p:extLst>
      <p:ext uri="{BB962C8B-B14F-4D97-AF65-F5344CB8AC3E}">
        <p14:creationId xmlns:p14="http://schemas.microsoft.com/office/powerpoint/2010/main" val="6951853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09600" y="1052736"/>
            <a:ext cx="10972800" cy="5400599"/>
          </a:xfrm>
        </p:spPr>
        <p:txBody>
          <a:bodyPr vert="horz" lIns="91440" tIns="45720" rIns="91440" bIns="45720" rtlCol="0" anchor="t">
            <a:normAutofit/>
          </a:bodyPr>
          <a:lstStyle/>
          <a:p>
            <a:pPr marL="0" indent="0">
              <a:spcBef>
                <a:spcPts val="40"/>
              </a:spcBef>
              <a:spcAft>
                <a:spcPts val="40"/>
              </a:spcAft>
              <a:buNone/>
            </a:pPr>
            <a:r>
              <a:rPr lang="en-US" sz="1800" b="1" dirty="0">
                <a:latin typeface="Times New Roman" panose="02020603050405020304" pitchFamily="18" charset="0"/>
                <a:cs typeface="Times New Roman" panose="02020603050405020304" pitchFamily="18" charset="0"/>
              </a:rPr>
              <a:t>Problem Statement:</a:t>
            </a:r>
          </a:p>
          <a:p>
            <a:pPr marL="0" indent="0">
              <a:buNone/>
            </a:pPr>
            <a:r>
              <a:rPr lang="en-IN" sz="1800" dirty="0">
                <a:latin typeface="Times New Roman" panose="02020603050405020304" pitchFamily="18" charset="0"/>
                <a:cs typeface="Times New Roman" panose="02020603050405020304" pitchFamily="18" charset="0"/>
              </a:rPr>
              <a:t>Smallholder farmers face major crop losses because current crop protection methods are often slow, reactive, and disconnected. They need an affordable and unified system that can detect environmental stress at an early stage, identify crop diseases when symptoms appear, and provide suitable treatment recommendations along with proper chemical dosage and spraying </a:t>
            </a:r>
            <a:r>
              <a:rPr lang="en-IN" sz="1800">
                <a:latin typeface="Times New Roman" panose="02020603050405020304" pitchFamily="18" charset="0"/>
                <a:cs typeface="Times New Roman" panose="02020603050405020304" pitchFamily="18" charset="0"/>
              </a:rPr>
              <a:t>guidance.</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Scope of the Project</a:t>
            </a:r>
          </a:p>
          <a:p>
            <a:r>
              <a:rPr lang="en-IN" sz="1800" dirty="0">
                <a:latin typeface="Times New Roman" panose="02020603050405020304" pitchFamily="18" charset="0"/>
                <a:cs typeface="Times New Roman" panose="02020603050405020304" pitchFamily="18" charset="0"/>
              </a:rPr>
              <a:t>Covers both crop disease detection and early environmental stress monitoring</a:t>
            </a:r>
          </a:p>
          <a:p>
            <a:r>
              <a:rPr lang="en-IN" sz="1800" dirty="0">
                <a:latin typeface="Times New Roman" panose="02020603050405020304" pitchFamily="18" charset="0"/>
                <a:cs typeface="Times New Roman" panose="02020603050405020304" pitchFamily="18" charset="0"/>
              </a:rPr>
              <a:t>Supports monitoring of crops under different field and environmental conditions</a:t>
            </a:r>
          </a:p>
          <a:p>
            <a:r>
              <a:rPr lang="en-IN" sz="1800" dirty="0">
                <a:latin typeface="Times New Roman" panose="02020603050405020304" pitchFamily="18" charset="0"/>
                <a:cs typeface="Times New Roman" panose="02020603050405020304" pitchFamily="18" charset="0"/>
              </a:rPr>
              <a:t>Focuses on real-time collection and analysis of crop health information</a:t>
            </a:r>
          </a:p>
          <a:p>
            <a:r>
              <a:rPr lang="en-IN" sz="1800" dirty="0">
                <a:latin typeface="Times New Roman" panose="02020603050405020304" pitchFamily="18" charset="0"/>
                <a:cs typeface="Times New Roman" panose="02020603050405020304" pitchFamily="18" charset="0"/>
              </a:rPr>
              <a:t>Combines AI-based image analysis with sensor-based field data</a:t>
            </a:r>
          </a:p>
          <a:p>
            <a:r>
              <a:rPr lang="en-IN" sz="1800" dirty="0">
                <a:latin typeface="Times New Roman" panose="02020603050405020304" pitchFamily="18" charset="0"/>
                <a:cs typeface="Times New Roman" panose="02020603050405020304" pitchFamily="18" charset="0"/>
              </a:rPr>
              <a:t>Provides farmers with easy-to-understand disease explanations and alerts</a:t>
            </a:r>
          </a:p>
          <a:p>
            <a:r>
              <a:rPr lang="en-IN" sz="1800" dirty="0">
                <a:latin typeface="Times New Roman" panose="02020603050405020304" pitchFamily="18" charset="0"/>
                <a:cs typeface="Times New Roman" panose="02020603050405020304" pitchFamily="18" charset="0"/>
              </a:rPr>
              <a:t>Extends beyond diagnosis by supporting practical and localized crop management decisions</a:t>
            </a:r>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a:xfrm>
            <a:off x="609600" y="228600"/>
            <a:ext cx="7485089" cy="563562"/>
          </a:xfrm>
        </p:spPr>
        <p:txBody>
          <a:bodyPr>
            <a:noAutofit/>
          </a:bodyPr>
          <a:lstStyle/>
          <a:p>
            <a:r>
              <a:rPr lang="en-US" sz="3200" b="1" dirty="0">
                <a:latin typeface="Times New Roman" panose="02020603050405020304" pitchFamily="18" charset="0"/>
                <a:cs typeface="Times New Roman" panose="02020603050405020304" pitchFamily="18" charset="0"/>
              </a:rPr>
              <a:t>Problem Statement / Scope of the Project</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9FE1904-C542-AA1E-2C15-5A81417C96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4197" y="229141"/>
            <a:ext cx="2900179" cy="563021"/>
          </a:xfrm>
          <a:prstGeom prst="rect">
            <a:avLst/>
          </a:prstGeom>
        </p:spPr>
      </p:pic>
    </p:spTree>
    <p:extLst>
      <p:ext uri="{BB962C8B-B14F-4D97-AF65-F5344CB8AC3E}">
        <p14:creationId xmlns:p14="http://schemas.microsoft.com/office/powerpoint/2010/main" val="3239980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C2826-D987-657A-B60A-74C1EACDDD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E6F616-BA4B-81FE-2F89-F371C90508B7}"/>
              </a:ext>
            </a:extLst>
          </p:cNvPr>
          <p:cNvSpPr>
            <a:spLocks noGrp="1"/>
          </p:cNvSpPr>
          <p:nvPr>
            <p:ph idx="1"/>
          </p:nvPr>
        </p:nvSpPr>
        <p:spPr>
          <a:xfrm>
            <a:off x="609600" y="1052736"/>
            <a:ext cx="10972800" cy="5400599"/>
          </a:xfrm>
        </p:spPr>
        <p:txBody>
          <a:bodyPr vert="horz" lIns="91440" tIns="45720" rIns="91440" bIns="45720" rtlCol="0" anchor="t">
            <a:normAutofit/>
          </a:bodyPr>
          <a:lstStyle/>
          <a:p>
            <a:r>
              <a:rPr lang="en-IN" sz="1800" dirty="0">
                <a:latin typeface="Times New Roman" panose="02020603050405020304" pitchFamily="18" charset="0"/>
                <a:cs typeface="Times New Roman" panose="02020603050405020304" pitchFamily="18" charset="0"/>
              </a:rPr>
              <a:t>Combines crop images and environmental sensor data for a more complete assessment of crop health</a:t>
            </a:r>
          </a:p>
          <a:p>
            <a:r>
              <a:rPr lang="en-IN" sz="1800" dirty="0">
                <a:latin typeface="Times New Roman" panose="02020603050405020304" pitchFamily="18" charset="0"/>
                <a:cs typeface="Times New Roman" panose="02020603050405020304" pitchFamily="18" charset="0"/>
              </a:rPr>
              <a:t>Detects both visible diseases and early-stage environmental stress in the same system</a:t>
            </a:r>
          </a:p>
          <a:p>
            <a:r>
              <a:rPr lang="en-IN" sz="1800" dirty="0">
                <a:latin typeface="Times New Roman" panose="02020603050405020304" pitchFamily="18" charset="0"/>
                <a:cs typeface="Times New Roman" panose="02020603050405020304" pitchFamily="18" charset="0"/>
              </a:rPr>
              <a:t>Uses a dual-module architecture to separate disease diagnosis and stress monitoring</a:t>
            </a:r>
          </a:p>
          <a:p>
            <a:r>
              <a:rPr lang="en-IN" sz="1800" dirty="0">
                <a:latin typeface="Times New Roman" panose="02020603050405020304" pitchFamily="18" charset="0"/>
                <a:cs typeface="Times New Roman" panose="02020603050405020304" pitchFamily="18" charset="0"/>
              </a:rPr>
              <a:t>Provides farmer verification of AI predictions through visual identification of affected leaf regions</a:t>
            </a:r>
          </a:p>
          <a:p>
            <a:r>
              <a:rPr lang="en-IN" sz="1800" dirty="0">
                <a:latin typeface="Times New Roman" panose="02020603050405020304" pitchFamily="18" charset="0"/>
                <a:cs typeface="Times New Roman" panose="02020603050405020304" pitchFamily="18" charset="0"/>
              </a:rPr>
              <a:t>Connects disease severity with specific management actions rather than stopping at diagnosis</a:t>
            </a:r>
          </a:p>
          <a:p>
            <a:r>
              <a:rPr lang="en-IN" sz="1800" dirty="0">
                <a:latin typeface="Times New Roman" panose="02020603050405020304" pitchFamily="18" charset="0"/>
                <a:cs typeface="Times New Roman" panose="02020603050405020304" pitchFamily="18" charset="0"/>
              </a:rPr>
              <a:t>Supports preventive crop management by identifying environmental stress before visible crop damage occurs</a:t>
            </a:r>
          </a:p>
        </p:txBody>
      </p:sp>
      <p:sp>
        <p:nvSpPr>
          <p:cNvPr id="3" name="Title 2">
            <a:extLst>
              <a:ext uri="{FF2B5EF4-FFF2-40B4-BE49-F238E27FC236}">
                <a16:creationId xmlns:a16="http://schemas.microsoft.com/office/drawing/2014/main" id="{DF291E41-CF58-74B2-9E5F-75768CDC9158}"/>
              </a:ext>
            </a:extLst>
          </p:cNvPr>
          <p:cNvSpPr>
            <a:spLocks noGrp="1"/>
          </p:cNvSpPr>
          <p:nvPr>
            <p:ph type="title"/>
          </p:nvPr>
        </p:nvSpPr>
        <p:spPr>
          <a:xfrm>
            <a:off x="609600" y="228600"/>
            <a:ext cx="8864184" cy="563562"/>
          </a:xfrm>
        </p:spPr>
        <p:txBody>
          <a:bodyPr>
            <a:noAutofit/>
          </a:bodyPr>
          <a:lstStyle/>
          <a:p>
            <a:r>
              <a:rPr lang="en-IN" sz="3200" b="1" dirty="0">
                <a:latin typeface="Times New Roman" panose="02020603050405020304" pitchFamily="18" charset="0"/>
                <a:cs typeface="Times New Roman" panose="02020603050405020304" pitchFamily="18" charset="0"/>
              </a:rPr>
              <a:t>Objectives </a:t>
            </a:r>
          </a:p>
        </p:txBody>
      </p:sp>
      <p:pic>
        <p:nvPicPr>
          <p:cNvPr id="6" name="Picture 5">
            <a:extLst>
              <a:ext uri="{FF2B5EF4-FFF2-40B4-BE49-F238E27FC236}">
                <a16:creationId xmlns:a16="http://schemas.microsoft.com/office/drawing/2014/main" id="{4321D194-BF7A-AFFD-A853-AAA15D9752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73784" y="228600"/>
            <a:ext cx="2505439" cy="563562"/>
          </a:xfrm>
          <a:prstGeom prst="rect">
            <a:avLst/>
          </a:prstGeom>
        </p:spPr>
      </p:pic>
    </p:spTree>
    <p:extLst>
      <p:ext uri="{BB962C8B-B14F-4D97-AF65-F5344CB8AC3E}">
        <p14:creationId xmlns:p14="http://schemas.microsoft.com/office/powerpoint/2010/main" val="16131464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5B0073362084F882CB8103ADDBA9E" ma:contentTypeVersion="11" ma:contentTypeDescription="Create a new document." ma:contentTypeScope="" ma:versionID="bb3828a3554a3e72f482397f97780a5c">
  <xsd:schema xmlns:xsd="http://www.w3.org/2001/XMLSchema" xmlns:xs="http://www.w3.org/2001/XMLSchema" xmlns:p="http://schemas.microsoft.com/office/2006/metadata/properties" xmlns:ns3="a06a6776-3e25-424f-9d70-8e040597f32b" targetNamespace="http://schemas.microsoft.com/office/2006/metadata/properties" ma:root="true" ma:fieldsID="d8fa8062f5ff3d6376f8f0c35f71aedf" ns3:_="">
    <xsd:import namespace="a06a6776-3e25-424f-9d70-8e040597f32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ServiceSystemTags" minOccurs="0"/>
                <xsd:element ref="ns3:MediaServiceOCR"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6a6776-3e25-424f-9d70-8e040597f32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a06a6776-3e25-424f-9d70-8e040597f32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CDB314-363A-4973-AB45-C7ACED53B3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6a6776-3e25-424f-9d70-8e040597f3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2E4B77-1A79-4366-9BCC-D8E365BD0F27}">
  <ds:schemaRefs>
    <ds:schemaRef ds:uri="http://schemas.microsoft.com/office/infopath/2007/PartnerControls"/>
    <ds:schemaRef ds:uri="http://www.w3.org/XML/1998/namespace"/>
    <ds:schemaRef ds:uri="http://purl.org/dc/dcmitype/"/>
    <ds:schemaRef ds:uri="http://schemas.microsoft.com/office/2006/metadata/properties"/>
    <ds:schemaRef ds:uri="http://purl.org/dc/elements/1.1/"/>
    <ds:schemaRef ds:uri="http://schemas.microsoft.com/office/2006/documentManagement/types"/>
    <ds:schemaRef ds:uri="http://purl.org/dc/terms/"/>
    <ds:schemaRef ds:uri="http://schemas.openxmlformats.org/package/2006/metadata/core-properties"/>
    <ds:schemaRef ds:uri="a06a6776-3e25-424f-9d70-8e040597f32b"/>
  </ds:schemaRefs>
</ds:datastoreItem>
</file>

<file path=customXml/itemProps3.xml><?xml version="1.0" encoding="utf-8"?>
<ds:datastoreItem xmlns:ds="http://schemas.openxmlformats.org/officeDocument/2006/customXml" ds:itemID="{0D537706-F5FA-4810-8DEB-BCD8CBB9E1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241</TotalTime>
  <Words>1507</Words>
  <Application>Microsoft Office PowerPoint</Application>
  <PresentationFormat>Widescreen</PresentationFormat>
  <Paragraphs>160</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AI-Based Crop Disease Detection and Management System</vt:lpstr>
      <vt:lpstr> Agenda  </vt:lpstr>
      <vt:lpstr>Introduction</vt:lpstr>
      <vt:lpstr>Review of literature</vt:lpstr>
      <vt:lpstr>PowerPoint Presentation</vt:lpstr>
      <vt:lpstr>Observations from the Literature Review</vt:lpstr>
      <vt:lpstr>Limitations from the Literature Review</vt:lpstr>
      <vt:lpstr>Problem Statement / Scope of the Project</vt:lpstr>
      <vt:lpstr>Objectives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AIG-POC</dc:title>
  <dc:creator>debashis.sengupta</dc:creator>
  <cp:lastModifiedBy>Karunakar D</cp:lastModifiedBy>
  <cp:revision>22</cp:revision>
  <cp:lastPrinted>2020-11-26T03:04:06Z</cp:lastPrinted>
  <dcterms:created xsi:type="dcterms:W3CDTF">2008-12-05T06:42:08Z</dcterms:created>
  <dcterms:modified xsi:type="dcterms:W3CDTF">2026-09-25T10:28:27Z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0x0101002895B0073362084F882CB8103ADDBA9E</vt:lpwstr>
  </property>
</Properties>
</file>